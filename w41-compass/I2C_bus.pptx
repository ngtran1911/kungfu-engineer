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68" r:id="rId3"/>
    <p:sldId id="280" r:id="rId4"/>
    <p:sldId id="281" r:id="rId5"/>
    <p:sldId id="282" r:id="rId6"/>
    <p:sldId id="267" r:id="rId7"/>
    <p:sldId id="265" r:id="rId8"/>
    <p:sldId id="264" r:id="rId9"/>
    <p:sldId id="266" r:id="rId10"/>
    <p:sldId id="269" r:id="rId11"/>
    <p:sldId id="270" r:id="rId12"/>
    <p:sldId id="271" r:id="rId13"/>
    <p:sldId id="273" r:id="rId14"/>
    <p:sldId id="272" r:id="rId15"/>
    <p:sldId id="275" r:id="rId16"/>
    <p:sldId id="276" r:id="rId17"/>
    <p:sldId id="279" r:id="rId18"/>
    <p:sldId id="278" r:id="rId19"/>
    <p:sldId id="277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2" r:id="rId28"/>
    <p:sldId id="290" r:id="rId29"/>
    <p:sldId id="29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C3A"/>
    <a:srgbClr val="FD0000"/>
    <a:srgbClr val="00C0F4"/>
    <a:srgbClr val="4B3E18"/>
    <a:srgbClr val="F4511E"/>
    <a:srgbClr val="0096A7"/>
    <a:srgbClr val="351F0F"/>
    <a:srgbClr val="5F4122"/>
    <a:srgbClr val="9B69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4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19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64401-FEA1-4F04-A27B-FF2F35E3D3F4}" type="datetimeFigureOut">
              <a:rPr lang="fi-FI" smtClean="0"/>
              <a:t>21.10.2024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0CBB0-BC9C-433C-8C87-0ED4CD1A1F7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77836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932" y="1108295"/>
            <a:ext cx="7343338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57932" y="3587970"/>
            <a:ext cx="7343338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191C3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1D84-91C5-49CD-BE91-54B7D0333AEA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7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1F35-9CB5-4C27-992B-8D369BBB7234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56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191C3A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236F8-77DE-41F4-BC22-EC85A249BCE4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4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6D3D-6C53-4354-B54B-1B42AD37D3F6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4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8F3B-7943-4A61-AA04-E56F609146BC}" type="datetime1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1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0EF0D-041B-4148-B154-E063DC8AEA84}" type="datetime1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3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4B49B-C694-4583-9E57-3F636B87F302}" type="datetime1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5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7D684-EEB0-46B4-B513-DAE8CC58F417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2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BB64-0BF3-4BC9-BFE0-9227E7194C8E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Embedded </a:t>
            </a:r>
            <a:r>
              <a:rPr lang="en-US" dirty="0" err="1"/>
              <a:t>projetcs</a:t>
            </a:r>
            <a:r>
              <a:rPr lang="en-US" dirty="0"/>
              <a:t>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89611"/>
            <a:ext cx="10515600" cy="438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4028" y="6503926"/>
            <a:ext cx="1847127" cy="3540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ln>
                  <a:noFill/>
                </a:ln>
                <a:solidFill>
                  <a:srgbClr val="4B3E18"/>
                </a:solidFill>
              </a:defRPr>
            </a:lvl1pPr>
          </a:lstStyle>
          <a:p>
            <a:fld id="{CA65C78C-A46A-4C7B-BC05-CFAD71A66799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03004" y="6492875"/>
            <a:ext cx="6285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noFill/>
                </a:ln>
                <a:solidFill>
                  <a:srgbClr val="4B3E18"/>
                </a:solidFill>
              </a:defRPr>
            </a:lvl1pPr>
          </a:lstStyle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09906" y="6356350"/>
            <a:ext cx="2043894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4B3E18"/>
                </a:solidFill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10475" y="4914981"/>
            <a:ext cx="896556" cy="32439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 rot="16200000">
            <a:off x="-2113768" y="2546065"/>
            <a:ext cx="38886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Find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m</a:t>
            </a:r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ore PowerPoint templates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on </a:t>
            </a:r>
            <a:r>
              <a:rPr lang="bs-Latn-BA" sz="1200" b="1" baseline="0" dirty="0">
                <a:solidFill>
                  <a:schemeClr val="bg1">
                    <a:lumMod val="65000"/>
                  </a:schemeClr>
                </a:solidFill>
              </a:rPr>
              <a:t>prezentr.com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!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ln w="19050">
            <a:solidFill>
              <a:schemeClr val="tx1"/>
            </a:solidFill>
          </a:ln>
          <a:solidFill>
            <a:srgbClr val="00C0F4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ln>
            <a:noFill/>
          </a:ln>
          <a:solidFill>
            <a:srgbClr val="4B3E1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ln>
            <a:noFill/>
          </a:ln>
          <a:solidFill>
            <a:srgbClr val="4B3E1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ln>
            <a:noFill/>
          </a:ln>
          <a:solidFill>
            <a:srgbClr val="4B3E1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noFill/>
          </a:ln>
          <a:solidFill>
            <a:srgbClr val="4B3E1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noFill/>
          </a:ln>
          <a:solidFill>
            <a:srgbClr val="4B3E1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obot-electronics.co.uk/i2c-tutorial/?SID=b76c522dd61b5d333d81c710bc4c5102" TargetMode="External"/><Relationship Id="rId2" Type="http://schemas.openxmlformats.org/officeDocument/2006/relationships/hyperlink" Target="https://www.youtube.com/watch?v=RoGNbshGM_M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best-microcontroller-projects.com/i2c-tutorial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duino.cc/en/Reference/Wire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tmp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tmp"/><Relationship Id="rId4" Type="http://schemas.openxmlformats.org/officeDocument/2006/relationships/image" Target="../media/image31.tm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Embedded </a:t>
            </a:r>
            <a:br>
              <a:rPr lang="en-US" dirty="0"/>
            </a:br>
            <a:r>
              <a:rPr lang="en-US" dirty="0"/>
              <a:t>projects 1.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E093C-80A0-463D-94E6-2BEFCD2E9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5181B-7D84-4F53-ACD5-F3630EDF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2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55ED9B-763D-4B9A-B95B-F23F587A0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25393" y="31752"/>
            <a:ext cx="5290170" cy="59179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BCFE11-D4C6-40D1-B9E1-C25C22E1EACE}"/>
              </a:ext>
            </a:extLst>
          </p:cNvPr>
          <p:cNvSpPr txBox="1">
            <a:spLocks/>
          </p:cNvSpPr>
          <p:nvPr/>
        </p:nvSpPr>
        <p:spPr>
          <a:xfrm>
            <a:off x="467544" y="620688"/>
            <a:ext cx="2592288" cy="864096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dirty="0"/>
              <a:t>Air </a:t>
            </a:r>
            <a:r>
              <a:rPr lang="fi-FI" dirty="0" err="1"/>
              <a:t>pressure</a:t>
            </a:r>
            <a:r>
              <a:rPr lang="fi-FI" dirty="0"/>
              <a:t> </a:t>
            </a:r>
            <a:r>
              <a:rPr lang="fi-FI" dirty="0" err="1"/>
              <a:t>sensor</a:t>
            </a:r>
            <a:endParaRPr lang="fi-FI" dirty="0"/>
          </a:p>
          <a:p>
            <a:r>
              <a:rPr lang="fi-FI" dirty="0"/>
              <a:t>BMP180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74D868-1C96-46A5-92DE-4301A1C31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76" y="1614810"/>
            <a:ext cx="4302224" cy="43022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B4741E-8144-41DF-B941-AD8ECEC50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59052">
            <a:off x="6173259" y="4532670"/>
            <a:ext cx="1806928" cy="180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9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BCFE11-D4C6-40D1-B9E1-C25C22E1EACE}"/>
              </a:ext>
            </a:extLst>
          </p:cNvPr>
          <p:cNvSpPr txBox="1">
            <a:spLocks/>
          </p:cNvSpPr>
          <p:nvPr/>
        </p:nvSpPr>
        <p:spPr>
          <a:xfrm>
            <a:off x="467544" y="620688"/>
            <a:ext cx="3281870" cy="140408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I2C </a:t>
            </a:r>
          </a:p>
          <a:p>
            <a:pPr lvl="1"/>
            <a:r>
              <a:rPr lang="en-US" dirty="0"/>
              <a:t>Arduino Bus master</a:t>
            </a:r>
          </a:p>
          <a:p>
            <a:pPr lvl="1"/>
            <a:r>
              <a:rPr lang="en-US" dirty="0"/>
              <a:t>Air pressure sensor BMP180 slave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D95DA1-7AFF-4099-B234-CA59B52E0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752" y="2076214"/>
            <a:ext cx="6429375" cy="31051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B3A1F5-686A-4D35-A4EE-66DB16E8A134}"/>
              </a:ext>
            </a:extLst>
          </p:cNvPr>
          <p:cNvSpPr/>
          <p:nvPr/>
        </p:nvSpPr>
        <p:spPr>
          <a:xfrm>
            <a:off x="2148459" y="2976246"/>
            <a:ext cx="1156055" cy="227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Arduino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22C2C4-AAFC-497F-8B4C-D53FC3CD371F}"/>
              </a:ext>
            </a:extLst>
          </p:cNvPr>
          <p:cNvSpPr/>
          <p:nvPr/>
        </p:nvSpPr>
        <p:spPr>
          <a:xfrm>
            <a:off x="5124262" y="3431263"/>
            <a:ext cx="3244866" cy="14576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D2D91C-6F62-4296-B292-FE0080A88D6E}"/>
              </a:ext>
            </a:extLst>
          </p:cNvPr>
          <p:cNvSpPr/>
          <p:nvPr/>
        </p:nvSpPr>
        <p:spPr>
          <a:xfrm>
            <a:off x="3749414" y="3695248"/>
            <a:ext cx="1156055" cy="227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BMP180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B75210-5B82-43C0-B9DF-18E754B15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553" y="2119752"/>
            <a:ext cx="1655311" cy="930751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F4F5856-7CAA-4C55-AF90-9F3A4761E29F}"/>
              </a:ext>
            </a:extLst>
          </p:cNvPr>
          <p:cNvSpPr/>
          <p:nvPr/>
        </p:nvSpPr>
        <p:spPr>
          <a:xfrm>
            <a:off x="4823989" y="3119169"/>
            <a:ext cx="2762816" cy="21250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2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BCFE11-D4C6-40D1-B9E1-C25C22E1EACE}"/>
              </a:ext>
            </a:extLst>
          </p:cNvPr>
          <p:cNvSpPr txBox="1">
            <a:spLocks/>
          </p:cNvSpPr>
          <p:nvPr/>
        </p:nvSpPr>
        <p:spPr>
          <a:xfrm>
            <a:off x="467544" y="620688"/>
            <a:ext cx="2592288" cy="8640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General I2C bus structure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D95DA1-7AFF-4099-B234-CA59B52E0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752" y="2076214"/>
            <a:ext cx="642937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18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BCFE11-D4C6-40D1-B9E1-C25C22E1EACE}"/>
              </a:ext>
            </a:extLst>
          </p:cNvPr>
          <p:cNvSpPr txBox="1">
            <a:spLocks/>
          </p:cNvSpPr>
          <p:nvPr/>
        </p:nvSpPr>
        <p:spPr>
          <a:xfrm>
            <a:off x="467544" y="620688"/>
            <a:ext cx="4131616" cy="8640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Links for I2C tutorial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782818-FA42-464A-B023-1DDD1498F1B4}"/>
              </a:ext>
            </a:extLst>
          </p:cNvPr>
          <p:cNvSpPr/>
          <p:nvPr/>
        </p:nvSpPr>
        <p:spPr>
          <a:xfrm>
            <a:off x="690006" y="3887015"/>
            <a:ext cx="5541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https://www.youtube.com/watch?v=RoGNbshGM_M</a:t>
            </a:r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0BB3F3-1F66-4A2B-93D3-315E0D09F2EC}"/>
              </a:ext>
            </a:extLst>
          </p:cNvPr>
          <p:cNvSpPr/>
          <p:nvPr/>
        </p:nvSpPr>
        <p:spPr>
          <a:xfrm>
            <a:off x="622426" y="2749632"/>
            <a:ext cx="107313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https://robot-electronics.co.uk/i2c-tutorial/?SID=b76c522dd61b5d333d81c710bc4c5102</a:t>
            </a: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243F42-E2F6-4D76-B940-88BD6432D242}"/>
              </a:ext>
            </a:extLst>
          </p:cNvPr>
          <p:cNvSpPr/>
          <p:nvPr/>
        </p:nvSpPr>
        <p:spPr>
          <a:xfrm>
            <a:off x="690006" y="1740473"/>
            <a:ext cx="99989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https://www.best-microcontroller-projects.com/i2c-tutorial.html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91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020EF-5F96-4FF7-A71D-E885476A5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199" y="1261269"/>
            <a:ext cx="8065707" cy="39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58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E992C4-740E-401C-B175-BF2C2B828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90" y="1348254"/>
            <a:ext cx="9495374" cy="36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304E20-C828-4FCB-993F-FA0EDBA8C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456" y="930995"/>
            <a:ext cx="8622780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EDEAA3-B960-427C-B87B-205B9779C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443784"/>
            <a:ext cx="7848872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4D5D8F-22DC-4B1F-8A5D-7810562743AF}"/>
              </a:ext>
            </a:extLst>
          </p:cNvPr>
          <p:cNvSpPr txBox="1">
            <a:spLocks/>
          </p:cNvSpPr>
          <p:nvPr/>
        </p:nvSpPr>
        <p:spPr>
          <a:xfrm>
            <a:off x="8598548" y="3456305"/>
            <a:ext cx="3288651" cy="147882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SCL = serial clock signal</a:t>
            </a:r>
          </a:p>
          <a:p>
            <a:r>
              <a:rPr lang="en-US" sz="2000" dirty="0"/>
              <a:t>SDA = serial data signal</a:t>
            </a:r>
          </a:p>
        </p:txBody>
      </p:sp>
    </p:spTree>
    <p:extLst>
      <p:ext uri="{BB962C8B-B14F-4D97-AF65-F5344CB8AC3E}">
        <p14:creationId xmlns:p14="http://schemas.microsoft.com/office/powerpoint/2010/main" val="227403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4A375F-3120-4B97-A73D-16A63F7D6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912364"/>
            <a:ext cx="5715000" cy="17430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4AE6517-2C3D-4295-BC13-579833A8CC14}"/>
              </a:ext>
            </a:extLst>
          </p:cNvPr>
          <p:cNvSpPr/>
          <p:nvPr/>
        </p:nvSpPr>
        <p:spPr>
          <a:xfrm>
            <a:off x="251341" y="6019895"/>
            <a:ext cx="4098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https://www.i2c-bus.org/addressing/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04C5B-1597-48F4-ACD7-0944314FA763}"/>
              </a:ext>
            </a:extLst>
          </p:cNvPr>
          <p:cNvSpPr/>
          <p:nvPr/>
        </p:nvSpPr>
        <p:spPr>
          <a:xfrm>
            <a:off x="539552" y="734874"/>
            <a:ext cx="1126162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first byte of an I2C transfer contains the slave address and the data direction.</a:t>
            </a:r>
          </a:p>
          <a:p>
            <a:endParaRPr lang="en-US" dirty="0"/>
          </a:p>
          <a:p>
            <a:r>
              <a:rPr lang="en-US" dirty="0"/>
              <a:t>The address is 7 bits long, followed by the direction bit. Like all data bytes, the address is transferred with the most significant bit first.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3AE202-629C-48C1-9B22-7976C55C6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170" y="2975392"/>
            <a:ext cx="4953004" cy="236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935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04C5B-1597-48F4-ACD7-0944314FA763}"/>
              </a:ext>
            </a:extLst>
          </p:cNvPr>
          <p:cNvSpPr/>
          <p:nvPr/>
        </p:nvSpPr>
        <p:spPr>
          <a:xfrm>
            <a:off x="539552" y="734874"/>
            <a:ext cx="112616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Handshaking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71BD95-14CB-412A-99B3-FD45CBCD6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460" y="2123957"/>
            <a:ext cx="7435030" cy="319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67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04C5B-1597-48F4-ACD7-0944314FA763}"/>
              </a:ext>
            </a:extLst>
          </p:cNvPr>
          <p:cNvSpPr/>
          <p:nvPr/>
        </p:nvSpPr>
        <p:spPr>
          <a:xfrm>
            <a:off x="539552" y="734874"/>
            <a:ext cx="112616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Write / Read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99CBC-204E-4274-BB2A-3FF5F19E7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03" y="1812515"/>
            <a:ext cx="10747949" cy="324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494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12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04C5B-1597-48F4-ACD7-0944314FA763}"/>
              </a:ext>
            </a:extLst>
          </p:cNvPr>
          <p:cNvSpPr/>
          <p:nvPr/>
        </p:nvSpPr>
        <p:spPr>
          <a:xfrm>
            <a:off x="539552" y="734874"/>
            <a:ext cx="112616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Write to slave</a:t>
            </a:r>
          </a:p>
        </p:txBody>
      </p:sp>
      <p:pic>
        <p:nvPicPr>
          <p:cNvPr id="10" name="Picture 9" descr="Screen Clipping">
            <a:extLst>
              <a:ext uri="{FF2B5EF4-FFF2-40B4-BE49-F238E27FC236}">
                <a16:creationId xmlns:a16="http://schemas.microsoft.com/office/drawing/2014/main" id="{F6FDC52C-CC19-474F-B252-409DB2E6C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2" y="1566602"/>
            <a:ext cx="10417456" cy="422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07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04C5B-1597-48F4-ACD7-0944314FA763}"/>
              </a:ext>
            </a:extLst>
          </p:cNvPr>
          <p:cNvSpPr/>
          <p:nvPr/>
        </p:nvSpPr>
        <p:spPr>
          <a:xfrm>
            <a:off x="539552" y="734874"/>
            <a:ext cx="112616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Read from slave</a:t>
            </a:r>
          </a:p>
        </p:txBody>
      </p:sp>
      <p:pic>
        <p:nvPicPr>
          <p:cNvPr id="10" name="Picture 9" descr="Screen Clipping">
            <a:extLst>
              <a:ext uri="{FF2B5EF4-FFF2-40B4-BE49-F238E27FC236}">
                <a16:creationId xmlns:a16="http://schemas.microsoft.com/office/drawing/2014/main" id="{1E603963-4A1B-488F-A707-7B46EF38F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751947"/>
            <a:ext cx="11261622" cy="340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76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04C5B-1597-48F4-ACD7-0944314FA763}"/>
              </a:ext>
            </a:extLst>
          </p:cNvPr>
          <p:cNvSpPr/>
          <p:nvPr/>
        </p:nvSpPr>
        <p:spPr>
          <a:xfrm>
            <a:off x="539552" y="734874"/>
            <a:ext cx="112616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I2C device register map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8C5268-66C3-4468-A387-FF4D806BB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1843087"/>
            <a:ext cx="617220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53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04C5B-1597-48F4-ACD7-0944314FA763}"/>
              </a:ext>
            </a:extLst>
          </p:cNvPr>
          <p:cNvSpPr/>
          <p:nvPr/>
        </p:nvSpPr>
        <p:spPr>
          <a:xfrm>
            <a:off x="539552" y="734874"/>
            <a:ext cx="1126162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CMPS14</a:t>
            </a:r>
          </a:p>
          <a:p>
            <a:endParaRPr lang="en-US" dirty="0"/>
          </a:p>
          <a:p>
            <a:r>
              <a:rPr lang="en-US" dirty="0"/>
              <a:t>Tilt Compensated Magnetic Compass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80078-B913-4CB1-9C1D-435EA1623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945" y="1583761"/>
            <a:ext cx="4791075" cy="1724025"/>
          </a:xfrm>
          <a:prstGeom prst="rect">
            <a:avLst/>
          </a:prstGeom>
        </p:spPr>
      </p:pic>
      <p:pic>
        <p:nvPicPr>
          <p:cNvPr id="8" name="Picture 7" descr="Screen Clipping">
            <a:extLst>
              <a:ext uri="{FF2B5EF4-FFF2-40B4-BE49-F238E27FC236}">
                <a16:creationId xmlns:a16="http://schemas.microsoft.com/office/drawing/2014/main" id="{31A1991F-7DD0-4D09-B332-DED387B32F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50" y="2060437"/>
            <a:ext cx="2981741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554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04C5B-1597-48F4-ACD7-0944314FA763}"/>
              </a:ext>
            </a:extLst>
          </p:cNvPr>
          <p:cNvSpPr/>
          <p:nvPr/>
        </p:nvSpPr>
        <p:spPr>
          <a:xfrm>
            <a:off x="327075" y="147006"/>
            <a:ext cx="1126162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CMPS14</a:t>
            </a:r>
          </a:p>
          <a:p>
            <a:endParaRPr lang="en-US" dirty="0"/>
          </a:p>
          <a:p>
            <a:r>
              <a:rPr lang="en-US" dirty="0"/>
              <a:t>Register map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80078-B913-4CB1-9C1D-435EA1623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8101" y="360762"/>
            <a:ext cx="3089718" cy="1111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63869E-C2A7-4E22-B7C9-85279A0DD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2" y="1591662"/>
            <a:ext cx="762000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79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04C5B-1597-48F4-ACD7-0944314FA763}"/>
              </a:ext>
            </a:extLst>
          </p:cNvPr>
          <p:cNvSpPr/>
          <p:nvPr/>
        </p:nvSpPr>
        <p:spPr>
          <a:xfrm>
            <a:off x="327075" y="147006"/>
            <a:ext cx="112616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Wire Library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80078-B913-4CB1-9C1D-435EA1623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184" y="461962"/>
            <a:ext cx="3609642" cy="129889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7C94BA-4912-4188-A687-200ADF375686}"/>
              </a:ext>
            </a:extLst>
          </p:cNvPr>
          <p:cNvSpPr/>
          <p:nvPr/>
        </p:nvSpPr>
        <p:spPr>
          <a:xfrm>
            <a:off x="256330" y="1092432"/>
            <a:ext cx="48557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https://www.arduino.cc/en/Reference/Wire</a:t>
            </a:r>
            <a:endParaRPr lang="en-US" dirty="0"/>
          </a:p>
          <a:p>
            <a:endParaRPr lang="en-US" dirty="0"/>
          </a:p>
        </p:txBody>
      </p:sp>
      <p:pic>
        <p:nvPicPr>
          <p:cNvPr id="10" name="Picture 9" descr="Screen Clipping">
            <a:extLst>
              <a:ext uri="{FF2B5EF4-FFF2-40B4-BE49-F238E27FC236}">
                <a16:creationId xmlns:a16="http://schemas.microsoft.com/office/drawing/2014/main" id="{88A11354-2FF6-4DBF-BD68-9356F34B4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574" y="1658312"/>
            <a:ext cx="2644791" cy="430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85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18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04C5B-1597-48F4-ACD7-0944314FA763}"/>
              </a:ext>
            </a:extLst>
          </p:cNvPr>
          <p:cNvSpPr/>
          <p:nvPr/>
        </p:nvSpPr>
        <p:spPr>
          <a:xfrm>
            <a:off x="327075" y="147006"/>
            <a:ext cx="112616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Wire Library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7C94BA-4912-4188-A687-200ADF375686}"/>
              </a:ext>
            </a:extLst>
          </p:cNvPr>
          <p:cNvSpPr/>
          <p:nvPr/>
        </p:nvSpPr>
        <p:spPr>
          <a:xfrm>
            <a:off x="256330" y="1092432"/>
            <a:ext cx="52693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Example of reading I2C sonic range finder SRF02:</a:t>
            </a:r>
          </a:p>
        </p:txBody>
      </p:sp>
      <p:pic>
        <p:nvPicPr>
          <p:cNvPr id="9" name="Picture 8" descr="Screen Clipping">
            <a:extLst>
              <a:ext uri="{FF2B5EF4-FFF2-40B4-BE49-F238E27FC236}">
                <a16:creationId xmlns:a16="http://schemas.microsoft.com/office/drawing/2014/main" id="{F5DC734B-6D86-4DE3-9B46-FED26487E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4" y="1855591"/>
            <a:ext cx="2814646" cy="794877"/>
          </a:xfrm>
          <a:prstGeom prst="rect">
            <a:avLst/>
          </a:prstGeom>
        </p:spPr>
      </p:pic>
      <p:pic>
        <p:nvPicPr>
          <p:cNvPr id="14" name="Picture 13" descr="Screen Clipping">
            <a:extLst>
              <a:ext uri="{FF2B5EF4-FFF2-40B4-BE49-F238E27FC236}">
                <a16:creationId xmlns:a16="http://schemas.microsoft.com/office/drawing/2014/main" id="{BB8C51C5-9D00-4ED7-922E-AFD5260C1F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06" y="3958266"/>
            <a:ext cx="6668431" cy="19528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C3CB5E-AC98-43F3-A021-B92E6FF7E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128" y="273059"/>
            <a:ext cx="2160046" cy="2377409"/>
          </a:xfrm>
          <a:prstGeom prst="rect">
            <a:avLst/>
          </a:prstGeom>
        </p:spPr>
      </p:pic>
      <p:pic>
        <p:nvPicPr>
          <p:cNvPr id="17" name="Picture 16" descr="Screen Clipping">
            <a:extLst>
              <a:ext uri="{FF2B5EF4-FFF2-40B4-BE49-F238E27FC236}">
                <a16:creationId xmlns:a16="http://schemas.microsoft.com/office/drawing/2014/main" id="{7C331B2C-C2CA-4F78-B1C0-19448D7A3B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307" y="1617147"/>
            <a:ext cx="601111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89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19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04C5B-1597-48F4-ACD7-0944314FA763}"/>
              </a:ext>
            </a:extLst>
          </p:cNvPr>
          <p:cNvSpPr/>
          <p:nvPr/>
        </p:nvSpPr>
        <p:spPr>
          <a:xfrm>
            <a:off x="327075" y="147006"/>
            <a:ext cx="112616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CMPS14 registers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80078-B913-4CB1-9C1D-435EA1623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479" y="941471"/>
            <a:ext cx="5374854" cy="1934092"/>
          </a:xfrm>
          <a:prstGeom prst="rect">
            <a:avLst/>
          </a:prstGeom>
        </p:spPr>
      </p:pic>
      <p:pic>
        <p:nvPicPr>
          <p:cNvPr id="12" name="Picture 11" descr="Screen Clipping">
            <a:extLst>
              <a:ext uri="{FF2B5EF4-FFF2-40B4-BE49-F238E27FC236}">
                <a16:creationId xmlns:a16="http://schemas.microsoft.com/office/drawing/2014/main" id="{4EBE1FFB-ED04-455C-BBD1-1D6F4FE26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564" y="1613201"/>
            <a:ext cx="4458322" cy="295316"/>
          </a:xfrm>
          <a:prstGeom prst="rect">
            <a:avLst/>
          </a:prstGeom>
        </p:spPr>
      </p:pic>
      <p:pic>
        <p:nvPicPr>
          <p:cNvPr id="14" name="Picture 13" descr="Screen Clipping">
            <a:extLst>
              <a:ext uri="{FF2B5EF4-FFF2-40B4-BE49-F238E27FC236}">
                <a16:creationId xmlns:a16="http://schemas.microsoft.com/office/drawing/2014/main" id="{416C9BDA-6842-4B6A-9602-1D8CC7FDF3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34" y="3514916"/>
            <a:ext cx="9126224" cy="16766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1CC921-72DD-4107-BF5A-37265B694FF9}"/>
              </a:ext>
            </a:extLst>
          </p:cNvPr>
          <p:cNvSpPr txBox="1"/>
          <p:nvPr/>
        </p:nvSpPr>
        <p:spPr>
          <a:xfrm>
            <a:off x="2546555" y="2241403"/>
            <a:ext cx="31277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0xC0=  1100 000</a:t>
            </a:r>
          </a:p>
          <a:p>
            <a:r>
              <a:rPr lang="en-US" dirty="0"/>
              <a:t>&gt;&gt;        0110 000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Addr</a:t>
            </a:r>
            <a:r>
              <a:rPr lang="en-US" dirty="0"/>
              <a:t> for wire library = 0x60</a:t>
            </a:r>
          </a:p>
        </p:txBody>
      </p:sp>
    </p:spTree>
    <p:extLst>
      <p:ext uri="{BB962C8B-B14F-4D97-AF65-F5344CB8AC3E}">
        <p14:creationId xmlns:p14="http://schemas.microsoft.com/office/powerpoint/2010/main" val="1419103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D-C739-49CC-BE62-AC07D259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278CD-B637-40EF-A0EF-D88CC067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9970" y="6492875"/>
            <a:ext cx="6863788" cy="365125"/>
          </a:xfrm>
        </p:spPr>
        <p:txBody>
          <a:bodyPr/>
          <a:lstStyle/>
          <a:p>
            <a:r>
              <a:rPr lang="en-US" dirty="0"/>
              <a:t>Tampere University of Applied Sciences /Degree </a:t>
            </a:r>
            <a:r>
              <a:rPr lang="en-US" dirty="0" err="1"/>
              <a:t>Programme</a:t>
            </a:r>
            <a:r>
              <a:rPr lang="en-US" dirty="0"/>
              <a:t> in ICT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C1F-78D7-4A1D-8E13-3AA4FE8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20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04C5B-1597-48F4-ACD7-0944314FA763}"/>
              </a:ext>
            </a:extLst>
          </p:cNvPr>
          <p:cNvSpPr/>
          <p:nvPr/>
        </p:nvSpPr>
        <p:spPr>
          <a:xfrm>
            <a:off x="327075" y="147006"/>
            <a:ext cx="112616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CMPS14 heading reading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80078-B913-4CB1-9C1D-435EA1623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479" y="941471"/>
            <a:ext cx="5374854" cy="19340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1CC921-72DD-4107-BF5A-37265B694FF9}"/>
              </a:ext>
            </a:extLst>
          </p:cNvPr>
          <p:cNvSpPr txBox="1"/>
          <p:nvPr/>
        </p:nvSpPr>
        <p:spPr>
          <a:xfrm>
            <a:off x="219879" y="908699"/>
            <a:ext cx="1136881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CMPS slave address is = 0x60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Add I2C library / #include &lt;</a:t>
            </a:r>
            <a:r>
              <a:rPr lang="en-US" dirty="0" err="1"/>
              <a:t>Wire.h</a:t>
            </a:r>
            <a:r>
              <a:rPr lang="en-US" dirty="0"/>
              <a:t>&gt;               </a:t>
            </a:r>
          </a:p>
          <a:p>
            <a:pPr marL="342900" indent="-342900">
              <a:buAutoNum type="arabicPeriod"/>
            </a:pPr>
            <a:r>
              <a:rPr lang="en-US" dirty="0"/>
              <a:t>Initiate I2C communication / </a:t>
            </a:r>
            <a:r>
              <a:rPr lang="en-US" dirty="0" err="1">
                <a:solidFill>
                  <a:srgbClr val="FF0000"/>
                </a:solidFill>
              </a:rPr>
              <a:t>BeginTransmission</a:t>
            </a:r>
            <a:r>
              <a:rPr lang="en-US" dirty="0"/>
              <a:t>, define slave address</a:t>
            </a:r>
          </a:p>
          <a:p>
            <a:pPr marL="342900" indent="-342900">
              <a:buAutoNum type="arabicPeriod"/>
            </a:pPr>
            <a:r>
              <a:rPr lang="en-US" dirty="0"/>
              <a:t>Set slave register to be read / </a:t>
            </a:r>
            <a:r>
              <a:rPr lang="en-US" dirty="0">
                <a:solidFill>
                  <a:srgbClr val="FF0000"/>
                </a:solidFill>
              </a:rPr>
              <a:t>write</a:t>
            </a:r>
            <a:r>
              <a:rPr lang="en-US" dirty="0"/>
              <a:t> (“register number”)</a:t>
            </a:r>
          </a:p>
          <a:p>
            <a:pPr marL="342900" indent="-342900">
              <a:buAutoNum type="arabicPeriod"/>
            </a:pPr>
            <a:r>
              <a:rPr lang="en-US" dirty="0"/>
              <a:t>Send slave address and register number / </a:t>
            </a:r>
            <a:r>
              <a:rPr lang="en-US" dirty="0" err="1">
                <a:solidFill>
                  <a:srgbClr val="FF0000"/>
                </a:solidFill>
              </a:rPr>
              <a:t>endTransmission</a:t>
            </a: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dirty="0"/>
              <a:t>Check that data is available from slave / </a:t>
            </a:r>
            <a:r>
              <a:rPr lang="en-US" dirty="0" err="1">
                <a:solidFill>
                  <a:srgbClr val="FF0000"/>
                </a:solidFill>
              </a:rPr>
              <a:t>requestFrom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define slave address and  number of </a:t>
            </a:r>
            <a:r>
              <a:rPr lang="en-US" dirty="0" err="1"/>
              <a:t>readed</a:t>
            </a:r>
            <a:r>
              <a:rPr lang="en-US" dirty="0"/>
              <a:t> bytes</a:t>
            </a:r>
          </a:p>
          <a:p>
            <a:pPr marL="342900" indent="-342900">
              <a:buAutoNum type="arabicPeriod"/>
            </a:pPr>
            <a:r>
              <a:rPr lang="en-US" dirty="0"/>
              <a:t>If available, read byte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pic>
        <p:nvPicPr>
          <p:cNvPr id="8" name="Picture 7" descr="Screen Clipping">
            <a:extLst>
              <a:ext uri="{FF2B5EF4-FFF2-40B4-BE49-F238E27FC236}">
                <a16:creationId xmlns:a16="http://schemas.microsoft.com/office/drawing/2014/main" id="{B57C3B6C-2DB8-4356-8375-6A739A6B12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860452"/>
            <a:ext cx="6868484" cy="2495898"/>
          </a:xfrm>
          <a:prstGeom prst="rect">
            <a:avLst/>
          </a:prstGeom>
        </p:spPr>
      </p:pic>
      <p:pic>
        <p:nvPicPr>
          <p:cNvPr id="11" name="Picture 10" descr="Screen Clipping">
            <a:extLst>
              <a:ext uri="{FF2B5EF4-FFF2-40B4-BE49-F238E27FC236}">
                <a16:creationId xmlns:a16="http://schemas.microsoft.com/office/drawing/2014/main" id="{C7A940DB-0289-4C31-9EDE-B8818983B5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62" y="3160600"/>
            <a:ext cx="7621064" cy="333422"/>
          </a:xfrm>
          <a:prstGeom prst="rect">
            <a:avLst/>
          </a:prstGeom>
        </p:spPr>
      </p:pic>
      <p:pic>
        <p:nvPicPr>
          <p:cNvPr id="9" name="Picture 8" descr="Screen Clipping">
            <a:extLst>
              <a:ext uri="{FF2B5EF4-FFF2-40B4-BE49-F238E27FC236}">
                <a16:creationId xmlns:a16="http://schemas.microsoft.com/office/drawing/2014/main" id="{E817E118-C6D6-4E3D-9EAE-0F71F06437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86" y="3322548"/>
            <a:ext cx="3162741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28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6081"/>
            <a:ext cx="9785684" cy="1747673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EF15B-A130-4C8B-828D-4857926B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CCC6B-8956-48B2-B3D7-5FBAAC34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F12CB2-7F2C-47B9-AE70-22A94B49F2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E03679-07EB-4576-B7B2-CB61A5366D7F}"/>
              </a:ext>
            </a:extLst>
          </p:cNvPr>
          <p:cNvSpPr txBox="1">
            <a:spLocks/>
          </p:cNvSpPr>
          <p:nvPr/>
        </p:nvSpPr>
        <p:spPr>
          <a:xfrm>
            <a:off x="858457" y="1829843"/>
            <a:ext cx="3845890" cy="576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Exercise   I2C 1.0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637CEC4-C9DB-4E12-B436-3A1B9EC0BEFB}"/>
              </a:ext>
            </a:extLst>
          </p:cNvPr>
          <p:cNvSpPr txBox="1">
            <a:spLocks/>
          </p:cNvSpPr>
          <p:nvPr/>
        </p:nvSpPr>
        <p:spPr>
          <a:xfrm>
            <a:off x="609426" y="2545471"/>
            <a:ext cx="4817430" cy="2401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573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Connect CMPS14 module to your board</a:t>
            </a:r>
          </a:p>
          <a:p>
            <a:pPr lvl="1" indent="-342900">
              <a:buFont typeface="Wingdings" panose="05000000000000000000" pitchFamily="2" charset="2"/>
              <a:buChar char="§"/>
              <a:defRPr/>
            </a:pPr>
            <a:r>
              <a:rPr lang="en-GB" dirty="0">
                <a:solidFill>
                  <a:sysClr val="windowText" lastClr="000000"/>
                </a:solidFill>
              </a:rPr>
              <a:t>+5V</a:t>
            </a:r>
          </a:p>
          <a:p>
            <a:pPr lvl="1" indent="-342900">
              <a:buFont typeface="Wingdings" panose="05000000000000000000" pitchFamily="2" charset="2"/>
              <a:buChar char="§"/>
              <a:defRPr/>
            </a:pPr>
            <a:r>
              <a:rPr lang="en-GB" dirty="0">
                <a:solidFill>
                  <a:sysClr val="windowText" lastClr="000000"/>
                </a:solidFill>
              </a:rPr>
              <a:t>SCL – Mega pin 21</a:t>
            </a:r>
          </a:p>
          <a:p>
            <a:pPr lvl="1" indent="-342900">
              <a:buFont typeface="Wingdings" panose="05000000000000000000" pitchFamily="2" charset="2"/>
              <a:buChar char="§"/>
              <a:defRPr/>
            </a:pPr>
            <a:r>
              <a:rPr lang="en-GB" dirty="0">
                <a:solidFill>
                  <a:sysClr val="windowText" lastClr="000000"/>
                </a:solidFill>
              </a:rPr>
              <a:t>SDA – Mega pin 20</a:t>
            </a:r>
          </a:p>
          <a:p>
            <a:pPr lvl="1" indent="-342900">
              <a:buFont typeface="Wingdings" panose="05000000000000000000" pitchFamily="2" charset="2"/>
              <a:buChar char="§"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GND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A34AC84-E6D1-40E7-A345-00998FB1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890A06-6623-4B07-A483-69B35DAAF67C}"/>
              </a:ext>
            </a:extLst>
          </p:cNvPr>
          <p:cNvSpPr txBox="1"/>
          <p:nvPr/>
        </p:nvSpPr>
        <p:spPr>
          <a:xfrm>
            <a:off x="8039477" y="1711105"/>
            <a:ext cx="1524571" cy="25668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DBB445-1781-4499-B16C-77AD71B9D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591601" y="2406316"/>
            <a:ext cx="2420322" cy="13229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77D5EF-0981-4D79-8E02-1B76849390EE}"/>
              </a:ext>
            </a:extLst>
          </p:cNvPr>
          <p:cNvCxnSpPr/>
          <p:nvPr/>
        </p:nvCxnSpPr>
        <p:spPr>
          <a:xfrm>
            <a:off x="8356349" y="4096882"/>
            <a:ext cx="0" cy="389299"/>
          </a:xfrm>
          <a:prstGeom prst="line">
            <a:avLst/>
          </a:prstGeom>
          <a:ln w="38100">
            <a:solidFill>
              <a:srgbClr val="191C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26B548-3EF2-4228-AAAE-23502614F1F3}"/>
              </a:ext>
            </a:extLst>
          </p:cNvPr>
          <p:cNvCxnSpPr/>
          <p:nvPr/>
        </p:nvCxnSpPr>
        <p:spPr>
          <a:xfrm>
            <a:off x="8635498" y="4096881"/>
            <a:ext cx="0" cy="389299"/>
          </a:xfrm>
          <a:prstGeom prst="line">
            <a:avLst/>
          </a:prstGeom>
          <a:ln w="38100">
            <a:solidFill>
              <a:srgbClr val="191C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2A7576E-7AB7-4E08-9F4C-EA91A21CF060}"/>
              </a:ext>
            </a:extLst>
          </p:cNvPr>
          <p:cNvCxnSpPr/>
          <p:nvPr/>
        </p:nvCxnSpPr>
        <p:spPr>
          <a:xfrm>
            <a:off x="8907102" y="4096880"/>
            <a:ext cx="0" cy="389299"/>
          </a:xfrm>
          <a:prstGeom prst="line">
            <a:avLst/>
          </a:prstGeom>
          <a:ln w="38100">
            <a:solidFill>
              <a:srgbClr val="191C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145D11D-B0DD-4D08-9968-B9F94D981AD3}"/>
              </a:ext>
            </a:extLst>
          </p:cNvPr>
          <p:cNvCxnSpPr/>
          <p:nvPr/>
        </p:nvCxnSpPr>
        <p:spPr>
          <a:xfrm>
            <a:off x="9178705" y="4096880"/>
            <a:ext cx="0" cy="389299"/>
          </a:xfrm>
          <a:prstGeom prst="line">
            <a:avLst/>
          </a:prstGeom>
          <a:ln w="38100">
            <a:solidFill>
              <a:srgbClr val="191C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ADF5E51-1799-4CC5-9FEC-AC30E20F469C}"/>
              </a:ext>
            </a:extLst>
          </p:cNvPr>
          <p:cNvSpPr/>
          <p:nvPr/>
        </p:nvSpPr>
        <p:spPr>
          <a:xfrm>
            <a:off x="8677245" y="939312"/>
            <a:ext cx="2833443" cy="2934008"/>
          </a:xfrm>
          <a:custGeom>
            <a:avLst/>
            <a:gdLst>
              <a:gd name="connsiteX0" fmla="*/ 26868 w 2833443"/>
              <a:gd name="connsiteY0" fmla="*/ 805758 h 2934008"/>
              <a:gd name="connsiteX1" fmla="*/ 72136 w 2833443"/>
              <a:gd name="connsiteY1" fmla="*/ 307818 h 2934008"/>
              <a:gd name="connsiteX2" fmla="*/ 171724 w 2833443"/>
              <a:gd name="connsiteY2" fmla="*/ 298764 h 2934008"/>
              <a:gd name="connsiteX3" fmla="*/ 316579 w 2833443"/>
              <a:gd name="connsiteY3" fmla="*/ 271604 h 2934008"/>
              <a:gd name="connsiteX4" fmla="*/ 343740 w 2833443"/>
              <a:gd name="connsiteY4" fmla="*/ 262550 h 2934008"/>
              <a:gd name="connsiteX5" fmla="*/ 551969 w 2833443"/>
              <a:gd name="connsiteY5" fmla="*/ 244443 h 2934008"/>
              <a:gd name="connsiteX6" fmla="*/ 696825 w 2833443"/>
              <a:gd name="connsiteY6" fmla="*/ 280657 h 2934008"/>
              <a:gd name="connsiteX7" fmla="*/ 742092 w 2833443"/>
              <a:gd name="connsiteY7" fmla="*/ 289711 h 2934008"/>
              <a:gd name="connsiteX8" fmla="*/ 941268 w 2833443"/>
              <a:gd name="connsiteY8" fmla="*/ 334978 h 2934008"/>
              <a:gd name="connsiteX9" fmla="*/ 1049910 w 2833443"/>
              <a:gd name="connsiteY9" fmla="*/ 325925 h 2934008"/>
              <a:gd name="connsiteX10" fmla="*/ 1113284 w 2833443"/>
              <a:gd name="connsiteY10" fmla="*/ 271604 h 2934008"/>
              <a:gd name="connsiteX11" fmla="*/ 1122338 w 2833443"/>
              <a:gd name="connsiteY11" fmla="*/ 244443 h 2934008"/>
              <a:gd name="connsiteX12" fmla="*/ 1140445 w 2833443"/>
              <a:gd name="connsiteY12" fmla="*/ 217283 h 2934008"/>
              <a:gd name="connsiteX13" fmla="*/ 1149498 w 2833443"/>
              <a:gd name="connsiteY13" fmla="*/ 181069 h 2934008"/>
              <a:gd name="connsiteX14" fmla="*/ 1167605 w 2833443"/>
              <a:gd name="connsiteY14" fmla="*/ 135802 h 2934008"/>
              <a:gd name="connsiteX15" fmla="*/ 1185712 w 2833443"/>
              <a:gd name="connsiteY15" fmla="*/ 72428 h 2934008"/>
              <a:gd name="connsiteX16" fmla="*/ 1194765 w 2833443"/>
              <a:gd name="connsiteY16" fmla="*/ 45267 h 2934008"/>
              <a:gd name="connsiteX17" fmla="*/ 1212872 w 2833443"/>
              <a:gd name="connsiteY17" fmla="*/ 18107 h 2934008"/>
              <a:gd name="connsiteX18" fmla="*/ 1249086 w 2833443"/>
              <a:gd name="connsiteY18" fmla="*/ 0 h 2934008"/>
              <a:gd name="connsiteX19" fmla="*/ 1339621 w 2833443"/>
              <a:gd name="connsiteY19" fmla="*/ 9053 h 2934008"/>
              <a:gd name="connsiteX20" fmla="*/ 1393942 w 2833443"/>
              <a:gd name="connsiteY20" fmla="*/ 27160 h 2934008"/>
              <a:gd name="connsiteX21" fmla="*/ 1430156 w 2833443"/>
              <a:gd name="connsiteY21" fmla="*/ 36214 h 2934008"/>
              <a:gd name="connsiteX22" fmla="*/ 1493530 w 2833443"/>
              <a:gd name="connsiteY22" fmla="*/ 72428 h 2934008"/>
              <a:gd name="connsiteX23" fmla="*/ 1520690 w 2833443"/>
              <a:gd name="connsiteY23" fmla="*/ 99588 h 2934008"/>
              <a:gd name="connsiteX24" fmla="*/ 1593118 w 2833443"/>
              <a:gd name="connsiteY24" fmla="*/ 144855 h 2934008"/>
              <a:gd name="connsiteX25" fmla="*/ 1656492 w 2833443"/>
              <a:gd name="connsiteY25" fmla="*/ 217283 h 2934008"/>
              <a:gd name="connsiteX26" fmla="*/ 1774187 w 2833443"/>
              <a:gd name="connsiteY26" fmla="*/ 298764 h 2934008"/>
              <a:gd name="connsiteX27" fmla="*/ 1828508 w 2833443"/>
              <a:gd name="connsiteY27" fmla="*/ 344032 h 2934008"/>
              <a:gd name="connsiteX28" fmla="*/ 1864722 w 2833443"/>
              <a:gd name="connsiteY28" fmla="*/ 407406 h 2934008"/>
              <a:gd name="connsiteX29" fmla="*/ 1873775 w 2833443"/>
              <a:gd name="connsiteY29" fmla="*/ 452673 h 2934008"/>
              <a:gd name="connsiteX30" fmla="*/ 1864722 w 2833443"/>
              <a:gd name="connsiteY30" fmla="*/ 688063 h 2934008"/>
              <a:gd name="connsiteX31" fmla="*/ 1846615 w 2833443"/>
              <a:gd name="connsiteY31" fmla="*/ 715224 h 2934008"/>
              <a:gd name="connsiteX32" fmla="*/ 1837561 w 2833443"/>
              <a:gd name="connsiteY32" fmla="*/ 805758 h 2934008"/>
              <a:gd name="connsiteX33" fmla="*/ 1819455 w 2833443"/>
              <a:gd name="connsiteY33" fmla="*/ 878186 h 2934008"/>
              <a:gd name="connsiteX34" fmla="*/ 1828508 w 2833443"/>
              <a:gd name="connsiteY34" fmla="*/ 1023041 h 2934008"/>
              <a:gd name="connsiteX35" fmla="*/ 1855668 w 2833443"/>
              <a:gd name="connsiteY35" fmla="*/ 1041148 h 2934008"/>
              <a:gd name="connsiteX36" fmla="*/ 1882829 w 2833443"/>
              <a:gd name="connsiteY36" fmla="*/ 1077362 h 2934008"/>
              <a:gd name="connsiteX37" fmla="*/ 1946203 w 2833443"/>
              <a:gd name="connsiteY37" fmla="*/ 1149790 h 2934008"/>
              <a:gd name="connsiteX38" fmla="*/ 1973363 w 2833443"/>
              <a:gd name="connsiteY38" fmla="*/ 1204111 h 2934008"/>
              <a:gd name="connsiteX39" fmla="*/ 2027684 w 2833443"/>
              <a:gd name="connsiteY39" fmla="*/ 1294645 h 2934008"/>
              <a:gd name="connsiteX40" fmla="*/ 2045791 w 2833443"/>
              <a:gd name="connsiteY40" fmla="*/ 1358020 h 2934008"/>
              <a:gd name="connsiteX41" fmla="*/ 2054845 w 2833443"/>
              <a:gd name="connsiteY41" fmla="*/ 1385180 h 2934008"/>
              <a:gd name="connsiteX42" fmla="*/ 2072952 w 2833443"/>
              <a:gd name="connsiteY42" fmla="*/ 1412340 h 2934008"/>
              <a:gd name="connsiteX43" fmla="*/ 2082005 w 2833443"/>
              <a:gd name="connsiteY43" fmla="*/ 1439501 h 2934008"/>
              <a:gd name="connsiteX44" fmla="*/ 2100112 w 2833443"/>
              <a:gd name="connsiteY44" fmla="*/ 1511929 h 2934008"/>
              <a:gd name="connsiteX45" fmla="*/ 2136326 w 2833443"/>
              <a:gd name="connsiteY45" fmla="*/ 1602463 h 2934008"/>
              <a:gd name="connsiteX46" fmla="*/ 2145379 w 2833443"/>
              <a:gd name="connsiteY46" fmla="*/ 1683944 h 2934008"/>
              <a:gd name="connsiteX47" fmla="*/ 2163486 w 2833443"/>
              <a:gd name="connsiteY47" fmla="*/ 1747319 h 2934008"/>
              <a:gd name="connsiteX48" fmla="*/ 2145379 w 2833443"/>
              <a:gd name="connsiteY48" fmla="*/ 1901228 h 2934008"/>
              <a:gd name="connsiteX49" fmla="*/ 2127272 w 2833443"/>
              <a:gd name="connsiteY49" fmla="*/ 1928388 h 2934008"/>
              <a:gd name="connsiteX50" fmla="*/ 2118219 w 2833443"/>
              <a:gd name="connsiteY50" fmla="*/ 1955548 h 2934008"/>
              <a:gd name="connsiteX51" fmla="*/ 2136326 w 2833443"/>
              <a:gd name="connsiteY51" fmla="*/ 2236206 h 2934008"/>
              <a:gd name="connsiteX52" fmla="*/ 2281181 w 2833443"/>
              <a:gd name="connsiteY52" fmla="*/ 2353901 h 2934008"/>
              <a:gd name="connsiteX53" fmla="*/ 2308342 w 2833443"/>
              <a:gd name="connsiteY53" fmla="*/ 2399168 h 2934008"/>
              <a:gd name="connsiteX54" fmla="*/ 2362662 w 2833443"/>
              <a:gd name="connsiteY54" fmla="*/ 2435382 h 2934008"/>
              <a:gd name="connsiteX55" fmla="*/ 2435090 w 2833443"/>
              <a:gd name="connsiteY55" fmla="*/ 2507810 h 2934008"/>
              <a:gd name="connsiteX56" fmla="*/ 2462251 w 2833443"/>
              <a:gd name="connsiteY56" fmla="*/ 2516863 h 2934008"/>
              <a:gd name="connsiteX57" fmla="*/ 2480358 w 2833443"/>
              <a:gd name="connsiteY57" fmla="*/ 2544024 h 2934008"/>
              <a:gd name="connsiteX58" fmla="*/ 2498464 w 2833443"/>
              <a:gd name="connsiteY58" fmla="*/ 2607398 h 2934008"/>
              <a:gd name="connsiteX59" fmla="*/ 2525625 w 2833443"/>
              <a:gd name="connsiteY59" fmla="*/ 2679826 h 2934008"/>
              <a:gd name="connsiteX60" fmla="*/ 2543732 w 2833443"/>
              <a:gd name="connsiteY60" fmla="*/ 2752253 h 2934008"/>
              <a:gd name="connsiteX61" fmla="*/ 2570892 w 2833443"/>
              <a:gd name="connsiteY61" fmla="*/ 2779414 h 2934008"/>
              <a:gd name="connsiteX62" fmla="*/ 2588999 w 2833443"/>
              <a:gd name="connsiteY62" fmla="*/ 2806574 h 2934008"/>
              <a:gd name="connsiteX63" fmla="*/ 2616159 w 2833443"/>
              <a:gd name="connsiteY63" fmla="*/ 2824681 h 2934008"/>
              <a:gd name="connsiteX64" fmla="*/ 2679534 w 2833443"/>
              <a:gd name="connsiteY64" fmla="*/ 2897109 h 2934008"/>
              <a:gd name="connsiteX65" fmla="*/ 2706694 w 2833443"/>
              <a:gd name="connsiteY65" fmla="*/ 2906162 h 2934008"/>
              <a:gd name="connsiteX66" fmla="*/ 2742908 w 2833443"/>
              <a:gd name="connsiteY66" fmla="*/ 2924269 h 2934008"/>
              <a:gd name="connsiteX67" fmla="*/ 2833443 w 2833443"/>
              <a:gd name="connsiteY67" fmla="*/ 2933323 h 293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833443" h="2934008">
                <a:moveTo>
                  <a:pt x="26868" y="805758"/>
                </a:moveTo>
                <a:cubicBezTo>
                  <a:pt x="152199" y="596879"/>
                  <a:pt x="-122375" y="1070899"/>
                  <a:pt x="72136" y="307818"/>
                </a:cubicBezTo>
                <a:cubicBezTo>
                  <a:pt x="80369" y="275518"/>
                  <a:pt x="138528" y="301782"/>
                  <a:pt x="171724" y="298764"/>
                </a:cubicBezTo>
                <a:cubicBezTo>
                  <a:pt x="300139" y="262074"/>
                  <a:pt x="165044" y="296860"/>
                  <a:pt x="316579" y="271604"/>
                </a:cubicBezTo>
                <a:cubicBezTo>
                  <a:pt x="325993" y="270035"/>
                  <a:pt x="334308" y="264001"/>
                  <a:pt x="343740" y="262550"/>
                </a:cubicBezTo>
                <a:cubicBezTo>
                  <a:pt x="382633" y="256566"/>
                  <a:pt x="521829" y="246762"/>
                  <a:pt x="551969" y="244443"/>
                </a:cubicBezTo>
                <a:cubicBezTo>
                  <a:pt x="725758" y="261823"/>
                  <a:pt x="573251" y="235721"/>
                  <a:pt x="696825" y="280657"/>
                </a:cubicBezTo>
                <a:cubicBezTo>
                  <a:pt x="711286" y="285916"/>
                  <a:pt x="727055" y="286442"/>
                  <a:pt x="742092" y="289711"/>
                </a:cubicBezTo>
                <a:cubicBezTo>
                  <a:pt x="891267" y="322141"/>
                  <a:pt x="856869" y="313879"/>
                  <a:pt x="941268" y="334978"/>
                </a:cubicBezTo>
                <a:cubicBezTo>
                  <a:pt x="977482" y="331960"/>
                  <a:pt x="1014655" y="334739"/>
                  <a:pt x="1049910" y="325925"/>
                </a:cubicBezTo>
                <a:cubicBezTo>
                  <a:pt x="1065395" y="322054"/>
                  <a:pt x="1101734" y="283154"/>
                  <a:pt x="1113284" y="271604"/>
                </a:cubicBezTo>
                <a:cubicBezTo>
                  <a:pt x="1116302" y="262550"/>
                  <a:pt x="1118070" y="252979"/>
                  <a:pt x="1122338" y="244443"/>
                </a:cubicBezTo>
                <a:cubicBezTo>
                  <a:pt x="1127204" y="234711"/>
                  <a:pt x="1136159" y="227284"/>
                  <a:pt x="1140445" y="217283"/>
                </a:cubicBezTo>
                <a:cubicBezTo>
                  <a:pt x="1145346" y="205846"/>
                  <a:pt x="1145563" y="192873"/>
                  <a:pt x="1149498" y="181069"/>
                </a:cubicBezTo>
                <a:cubicBezTo>
                  <a:pt x="1154637" y="165652"/>
                  <a:pt x="1161899" y="151019"/>
                  <a:pt x="1167605" y="135802"/>
                </a:cubicBezTo>
                <a:cubicBezTo>
                  <a:pt x="1180630" y="101069"/>
                  <a:pt x="1174297" y="112382"/>
                  <a:pt x="1185712" y="72428"/>
                </a:cubicBezTo>
                <a:cubicBezTo>
                  <a:pt x="1188334" y="63252"/>
                  <a:pt x="1190497" y="53803"/>
                  <a:pt x="1194765" y="45267"/>
                </a:cubicBezTo>
                <a:cubicBezTo>
                  <a:pt x="1199631" y="35535"/>
                  <a:pt x="1204513" y="25073"/>
                  <a:pt x="1212872" y="18107"/>
                </a:cubicBezTo>
                <a:cubicBezTo>
                  <a:pt x="1223240" y="9467"/>
                  <a:pt x="1237015" y="6036"/>
                  <a:pt x="1249086" y="0"/>
                </a:cubicBezTo>
                <a:cubicBezTo>
                  <a:pt x="1279264" y="3018"/>
                  <a:pt x="1309812" y="3464"/>
                  <a:pt x="1339621" y="9053"/>
                </a:cubicBezTo>
                <a:cubicBezTo>
                  <a:pt x="1358381" y="12570"/>
                  <a:pt x="1375661" y="21675"/>
                  <a:pt x="1393942" y="27160"/>
                </a:cubicBezTo>
                <a:cubicBezTo>
                  <a:pt x="1405860" y="30735"/>
                  <a:pt x="1418085" y="33196"/>
                  <a:pt x="1430156" y="36214"/>
                </a:cubicBezTo>
                <a:cubicBezTo>
                  <a:pt x="1503647" y="109705"/>
                  <a:pt x="1408419" y="23793"/>
                  <a:pt x="1493530" y="72428"/>
                </a:cubicBezTo>
                <a:cubicBezTo>
                  <a:pt x="1504646" y="78780"/>
                  <a:pt x="1511054" y="91157"/>
                  <a:pt x="1520690" y="99588"/>
                </a:cubicBezTo>
                <a:cubicBezTo>
                  <a:pt x="1566110" y="139330"/>
                  <a:pt x="1551231" y="130893"/>
                  <a:pt x="1593118" y="144855"/>
                </a:cubicBezTo>
                <a:cubicBezTo>
                  <a:pt x="1613946" y="172626"/>
                  <a:pt x="1628361" y="195403"/>
                  <a:pt x="1656492" y="217283"/>
                </a:cubicBezTo>
                <a:cubicBezTo>
                  <a:pt x="1727808" y="272751"/>
                  <a:pt x="1687387" y="211964"/>
                  <a:pt x="1774187" y="298764"/>
                </a:cubicBezTo>
                <a:cubicBezTo>
                  <a:pt x="1809042" y="333619"/>
                  <a:pt x="1790695" y="318823"/>
                  <a:pt x="1828508" y="344032"/>
                </a:cubicBezTo>
                <a:cubicBezTo>
                  <a:pt x="1841754" y="363901"/>
                  <a:pt x="1857064" y="384432"/>
                  <a:pt x="1864722" y="407406"/>
                </a:cubicBezTo>
                <a:cubicBezTo>
                  <a:pt x="1869588" y="422004"/>
                  <a:pt x="1870757" y="437584"/>
                  <a:pt x="1873775" y="452673"/>
                </a:cubicBezTo>
                <a:cubicBezTo>
                  <a:pt x="1870757" y="531136"/>
                  <a:pt x="1872802" y="609958"/>
                  <a:pt x="1864722" y="688063"/>
                </a:cubicBezTo>
                <a:cubicBezTo>
                  <a:pt x="1863602" y="698886"/>
                  <a:pt x="1849062" y="704622"/>
                  <a:pt x="1846615" y="715224"/>
                </a:cubicBezTo>
                <a:cubicBezTo>
                  <a:pt x="1839795" y="744776"/>
                  <a:pt x="1842547" y="775842"/>
                  <a:pt x="1837561" y="805758"/>
                </a:cubicBezTo>
                <a:cubicBezTo>
                  <a:pt x="1833470" y="830305"/>
                  <a:pt x="1819455" y="878186"/>
                  <a:pt x="1819455" y="878186"/>
                </a:cubicBezTo>
                <a:cubicBezTo>
                  <a:pt x="1822473" y="926471"/>
                  <a:pt x="1818013" y="975814"/>
                  <a:pt x="1828508" y="1023041"/>
                </a:cubicBezTo>
                <a:cubicBezTo>
                  <a:pt x="1830868" y="1033663"/>
                  <a:pt x="1847974" y="1033454"/>
                  <a:pt x="1855668" y="1041148"/>
                </a:cubicBezTo>
                <a:cubicBezTo>
                  <a:pt x="1866338" y="1051818"/>
                  <a:pt x="1872893" y="1066006"/>
                  <a:pt x="1882829" y="1077362"/>
                </a:cubicBezTo>
                <a:cubicBezTo>
                  <a:pt x="1915570" y="1114780"/>
                  <a:pt x="1921301" y="1108285"/>
                  <a:pt x="1946203" y="1149790"/>
                </a:cubicBezTo>
                <a:cubicBezTo>
                  <a:pt x="1956618" y="1167149"/>
                  <a:pt x="1963163" y="1186624"/>
                  <a:pt x="1973363" y="1204111"/>
                </a:cubicBezTo>
                <a:cubicBezTo>
                  <a:pt x="2008019" y="1263521"/>
                  <a:pt x="2005454" y="1242776"/>
                  <a:pt x="2027684" y="1294645"/>
                </a:cubicBezTo>
                <a:cubicBezTo>
                  <a:pt x="2036990" y="1316358"/>
                  <a:pt x="2039226" y="1335041"/>
                  <a:pt x="2045791" y="1358020"/>
                </a:cubicBezTo>
                <a:cubicBezTo>
                  <a:pt x="2048413" y="1367196"/>
                  <a:pt x="2050577" y="1376644"/>
                  <a:pt x="2054845" y="1385180"/>
                </a:cubicBezTo>
                <a:cubicBezTo>
                  <a:pt x="2059711" y="1394912"/>
                  <a:pt x="2066916" y="1403287"/>
                  <a:pt x="2072952" y="1412340"/>
                </a:cubicBezTo>
                <a:cubicBezTo>
                  <a:pt x="2075970" y="1421394"/>
                  <a:pt x="2079690" y="1430243"/>
                  <a:pt x="2082005" y="1439501"/>
                </a:cubicBezTo>
                <a:cubicBezTo>
                  <a:pt x="2090504" y="1473498"/>
                  <a:pt x="2087698" y="1482963"/>
                  <a:pt x="2100112" y="1511929"/>
                </a:cubicBezTo>
                <a:cubicBezTo>
                  <a:pt x="2140080" y="1605189"/>
                  <a:pt x="2095106" y="1478804"/>
                  <a:pt x="2136326" y="1602463"/>
                </a:cubicBezTo>
                <a:cubicBezTo>
                  <a:pt x="2139344" y="1629623"/>
                  <a:pt x="2141224" y="1656934"/>
                  <a:pt x="2145379" y="1683944"/>
                </a:cubicBezTo>
                <a:cubicBezTo>
                  <a:pt x="2148626" y="1705049"/>
                  <a:pt x="2156728" y="1727042"/>
                  <a:pt x="2163486" y="1747319"/>
                </a:cubicBezTo>
                <a:cubicBezTo>
                  <a:pt x="2162666" y="1757975"/>
                  <a:pt x="2161071" y="1864614"/>
                  <a:pt x="2145379" y="1901228"/>
                </a:cubicBezTo>
                <a:cubicBezTo>
                  <a:pt x="2141093" y="1911229"/>
                  <a:pt x="2133308" y="1919335"/>
                  <a:pt x="2127272" y="1928388"/>
                </a:cubicBezTo>
                <a:cubicBezTo>
                  <a:pt x="2124254" y="1937441"/>
                  <a:pt x="2120534" y="1946290"/>
                  <a:pt x="2118219" y="1955548"/>
                </a:cubicBezTo>
                <a:cubicBezTo>
                  <a:pt x="2095358" y="2046993"/>
                  <a:pt x="2098760" y="2146048"/>
                  <a:pt x="2136326" y="2236206"/>
                </a:cubicBezTo>
                <a:cubicBezTo>
                  <a:pt x="2142397" y="2250777"/>
                  <a:pt x="2243798" y="2325864"/>
                  <a:pt x="2281181" y="2353901"/>
                </a:cubicBezTo>
                <a:cubicBezTo>
                  <a:pt x="2290235" y="2368990"/>
                  <a:pt x="2295899" y="2386725"/>
                  <a:pt x="2308342" y="2399168"/>
                </a:cubicBezTo>
                <a:cubicBezTo>
                  <a:pt x="2323730" y="2414556"/>
                  <a:pt x="2362662" y="2435382"/>
                  <a:pt x="2362662" y="2435382"/>
                </a:cubicBezTo>
                <a:cubicBezTo>
                  <a:pt x="2400376" y="2491953"/>
                  <a:pt x="2383124" y="2485539"/>
                  <a:pt x="2435090" y="2507810"/>
                </a:cubicBezTo>
                <a:cubicBezTo>
                  <a:pt x="2443862" y="2511569"/>
                  <a:pt x="2453197" y="2513845"/>
                  <a:pt x="2462251" y="2516863"/>
                </a:cubicBezTo>
                <a:cubicBezTo>
                  <a:pt x="2468287" y="2525917"/>
                  <a:pt x="2475492" y="2534292"/>
                  <a:pt x="2480358" y="2544024"/>
                </a:cubicBezTo>
                <a:cubicBezTo>
                  <a:pt x="2491302" y="2565911"/>
                  <a:pt x="2489762" y="2584192"/>
                  <a:pt x="2498464" y="2607398"/>
                </a:cubicBezTo>
                <a:cubicBezTo>
                  <a:pt x="2527096" y="2683752"/>
                  <a:pt x="2508724" y="2603772"/>
                  <a:pt x="2525625" y="2679826"/>
                </a:cubicBezTo>
                <a:cubicBezTo>
                  <a:pt x="2527150" y="2686687"/>
                  <a:pt x="2535641" y="2740117"/>
                  <a:pt x="2543732" y="2752253"/>
                </a:cubicBezTo>
                <a:cubicBezTo>
                  <a:pt x="2550834" y="2762906"/>
                  <a:pt x="2562695" y="2769578"/>
                  <a:pt x="2570892" y="2779414"/>
                </a:cubicBezTo>
                <a:cubicBezTo>
                  <a:pt x="2577858" y="2787773"/>
                  <a:pt x="2581305" y="2798880"/>
                  <a:pt x="2588999" y="2806574"/>
                </a:cubicBezTo>
                <a:cubicBezTo>
                  <a:pt x="2596693" y="2814268"/>
                  <a:pt x="2608465" y="2816987"/>
                  <a:pt x="2616159" y="2824681"/>
                </a:cubicBezTo>
                <a:cubicBezTo>
                  <a:pt x="2631917" y="2840439"/>
                  <a:pt x="2657564" y="2882462"/>
                  <a:pt x="2679534" y="2897109"/>
                </a:cubicBezTo>
                <a:cubicBezTo>
                  <a:pt x="2687474" y="2902403"/>
                  <a:pt x="2697923" y="2902403"/>
                  <a:pt x="2706694" y="2906162"/>
                </a:cubicBezTo>
                <a:cubicBezTo>
                  <a:pt x="2719099" y="2911478"/>
                  <a:pt x="2730271" y="2919530"/>
                  <a:pt x="2742908" y="2924269"/>
                </a:cubicBezTo>
                <a:cubicBezTo>
                  <a:pt x="2778763" y="2937715"/>
                  <a:pt x="2792764" y="2933323"/>
                  <a:pt x="2833443" y="2933323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06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6081"/>
            <a:ext cx="9785684" cy="1747673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EF15B-A130-4C8B-828D-4857926B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CCC6B-8956-48B2-B3D7-5FBAAC34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F12CB2-7F2C-47B9-AE70-22A94B49F2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E03679-07EB-4576-B7B2-CB61A5366D7F}"/>
              </a:ext>
            </a:extLst>
          </p:cNvPr>
          <p:cNvSpPr txBox="1">
            <a:spLocks/>
          </p:cNvSpPr>
          <p:nvPr/>
        </p:nvSpPr>
        <p:spPr>
          <a:xfrm>
            <a:off x="858457" y="1829843"/>
            <a:ext cx="3845890" cy="576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Exercise   I2C 1.0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637CEC4-C9DB-4E12-B436-3A1B9EC0BEFB}"/>
              </a:ext>
            </a:extLst>
          </p:cNvPr>
          <p:cNvSpPr txBox="1">
            <a:spLocks/>
          </p:cNvSpPr>
          <p:nvPr/>
        </p:nvSpPr>
        <p:spPr>
          <a:xfrm>
            <a:off x="609426" y="2545471"/>
            <a:ext cx="6877790" cy="2401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573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Create code that reads raw 8 bits bearing value from sensor</a:t>
            </a:r>
          </a:p>
          <a:p>
            <a:pPr lvl="1" indent="-342900">
              <a:buFont typeface="Wingdings" panose="05000000000000000000" pitchFamily="2" charset="2"/>
              <a:buChar char="§"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Show raw value in your LCD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0F3C546-EDAD-4019-B538-1C6E07007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</p:spTree>
    <p:extLst>
      <p:ext uri="{BB962C8B-B14F-4D97-AF65-F5344CB8AC3E}">
        <p14:creationId xmlns:p14="http://schemas.microsoft.com/office/powerpoint/2010/main" val="3246447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6081"/>
            <a:ext cx="9785684" cy="1747673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EF15B-A130-4C8B-828D-4857926B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CCC6B-8956-48B2-B3D7-5FBAAC34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F12CB2-7F2C-47B9-AE70-22A94B49F2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E03679-07EB-4576-B7B2-CB61A5366D7F}"/>
              </a:ext>
            </a:extLst>
          </p:cNvPr>
          <p:cNvSpPr txBox="1">
            <a:spLocks/>
          </p:cNvSpPr>
          <p:nvPr/>
        </p:nvSpPr>
        <p:spPr>
          <a:xfrm>
            <a:off x="858457" y="1829843"/>
            <a:ext cx="3845890" cy="576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Exercise   I2C 1.1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637CEC4-C9DB-4E12-B436-3A1B9EC0BEFB}"/>
              </a:ext>
            </a:extLst>
          </p:cNvPr>
          <p:cNvSpPr txBox="1">
            <a:spLocks/>
          </p:cNvSpPr>
          <p:nvPr/>
        </p:nvSpPr>
        <p:spPr>
          <a:xfrm>
            <a:off x="609426" y="2545471"/>
            <a:ext cx="9448974" cy="2401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573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Wingdings" panose="05000000000000000000" pitchFamily="2" charset="2"/>
              <a:buChar char="§"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Create code that shows bearing </a:t>
            </a:r>
            <a:r>
              <a:rPr lang="en-GB" sz="1800" dirty="0">
                <a:solidFill>
                  <a:sysClr val="windowText" lastClr="000000"/>
                </a:solidFill>
              </a:rPr>
              <a:t>( 0-360°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) value </a:t>
            </a:r>
            <a:r>
              <a:rPr lang="en-GB" sz="1800" dirty="0">
                <a:solidFill>
                  <a:sysClr val="windowText" lastClr="000000"/>
                </a:solidFill>
              </a:rPr>
              <a:t>in your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LCD</a:t>
            </a:r>
          </a:p>
          <a:p>
            <a:pPr lvl="0">
              <a:buFont typeface="Wingdings" panose="05000000000000000000" pitchFamily="2" charset="2"/>
              <a:buChar char="§"/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lvl="0">
              <a:buFont typeface="Wingdings" panose="05000000000000000000" pitchFamily="2" charset="2"/>
              <a:buChar char="§"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Add text names for bearing directions(N,NW,W,SW,S,SE,E,NE)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949C1D5-9890-4D46-A1ED-1C8F9A2C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</p:spTree>
    <p:extLst>
      <p:ext uri="{BB962C8B-B14F-4D97-AF65-F5344CB8AC3E}">
        <p14:creationId xmlns:p14="http://schemas.microsoft.com/office/powerpoint/2010/main" val="3981799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6081"/>
            <a:ext cx="9785684" cy="1747673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EF15B-A130-4C8B-828D-4857926B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CCC6B-8956-48B2-B3D7-5FBAAC34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F12CB2-7F2C-47B9-AE70-22A94B49F2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E03679-07EB-4576-B7B2-CB61A5366D7F}"/>
              </a:ext>
            </a:extLst>
          </p:cNvPr>
          <p:cNvSpPr txBox="1">
            <a:spLocks/>
          </p:cNvSpPr>
          <p:nvPr/>
        </p:nvSpPr>
        <p:spPr>
          <a:xfrm>
            <a:off x="858457" y="1829843"/>
            <a:ext cx="3845890" cy="576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Exercise   I2C 1.2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637CEC4-C9DB-4E12-B436-3A1B9EC0BEFB}"/>
              </a:ext>
            </a:extLst>
          </p:cNvPr>
          <p:cNvSpPr txBox="1">
            <a:spLocks/>
          </p:cNvSpPr>
          <p:nvPr/>
        </p:nvSpPr>
        <p:spPr>
          <a:xfrm>
            <a:off x="609426" y="2545471"/>
            <a:ext cx="9448974" cy="2401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573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Wingdings" panose="05000000000000000000" pitchFamily="2" charset="2"/>
              <a:buChar char="§"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Create code that shows calibrated bearing ( 0-360</a:t>
            </a:r>
            <a:r>
              <a:rPr lang="en-US" sz="1800" dirty="0">
                <a:solidFill>
                  <a:prstClr val="black"/>
                </a:solidFill>
                <a:latin typeface="Trebuchet MS" panose="020B0603020202020204"/>
                <a:cs typeface="+mn-cs"/>
              </a:rPr>
              <a:t>°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) value </a:t>
            </a:r>
            <a:r>
              <a:rPr lang="en-GB" sz="1800" dirty="0">
                <a:solidFill>
                  <a:sysClr val="windowText" lastClr="000000"/>
                </a:solidFill>
              </a:rPr>
              <a:t>in your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LCD</a:t>
            </a:r>
          </a:p>
          <a:p>
            <a:pPr lvl="0">
              <a:buFont typeface="Wingdings" panose="05000000000000000000" pitchFamily="2" charset="2"/>
              <a:buChar char="§"/>
              <a:defRPr/>
            </a:pPr>
            <a:r>
              <a:rPr lang="en-GB" dirty="0">
                <a:solidFill>
                  <a:sysClr val="windowText" lastClr="000000"/>
                </a:solidFill>
              </a:rPr>
              <a:t>Do calibration so, that your table side direction equal 0</a:t>
            </a:r>
            <a:r>
              <a:rPr lang="en-US" sz="1800" dirty="0">
                <a:solidFill>
                  <a:prstClr val="black"/>
                </a:solidFill>
                <a:latin typeface="Trebuchet MS" panose="020B0603020202020204"/>
                <a:cs typeface="+mn-cs"/>
              </a:rPr>
              <a:t>° </a:t>
            </a:r>
            <a:r>
              <a:rPr lang="en-GB" dirty="0">
                <a:solidFill>
                  <a:sysClr val="windowText" lastClr="000000"/>
                </a:solidFill>
              </a:rPr>
              <a:t>bearing (North).</a:t>
            </a: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A6FEC4-AEC2-44EE-B956-432839F3F367}"/>
              </a:ext>
            </a:extLst>
          </p:cNvPr>
          <p:cNvSpPr/>
          <p:nvPr/>
        </p:nvSpPr>
        <p:spPr>
          <a:xfrm>
            <a:off x="3675707" y="4146487"/>
            <a:ext cx="3069125" cy="14666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0DB6A2-A121-42B1-A062-168715111C50}"/>
              </a:ext>
            </a:extLst>
          </p:cNvPr>
          <p:cNvCxnSpPr/>
          <p:nvPr/>
        </p:nvCxnSpPr>
        <p:spPr>
          <a:xfrm flipV="1">
            <a:off x="3675707" y="3684760"/>
            <a:ext cx="0" cy="2218099"/>
          </a:xfrm>
          <a:prstGeom prst="straightConnector1">
            <a:avLst/>
          </a:prstGeom>
          <a:ln w="38100">
            <a:solidFill>
              <a:srgbClr val="FD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B206ECB-A5E9-45E0-84B5-CDA3187E8B8A}"/>
              </a:ext>
            </a:extLst>
          </p:cNvPr>
          <p:cNvSpPr txBox="1"/>
          <p:nvPr/>
        </p:nvSpPr>
        <p:spPr>
          <a:xfrm>
            <a:off x="3744289" y="3684760"/>
            <a:ext cx="2092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360/0° = North =N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6844FF8-6EB6-4862-AF4B-D99898544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</p:spTree>
    <p:extLst>
      <p:ext uri="{BB962C8B-B14F-4D97-AF65-F5344CB8AC3E}">
        <p14:creationId xmlns:p14="http://schemas.microsoft.com/office/powerpoint/2010/main" val="17217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6081"/>
            <a:ext cx="9785684" cy="1747673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EF15B-A130-4C8B-828D-4857926B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CCC6B-8956-48B2-B3D7-5FBAAC34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F12CB2-7F2C-47B9-AE70-22A94B49F2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E03679-07EB-4576-B7B2-CB61A5366D7F}"/>
              </a:ext>
            </a:extLst>
          </p:cNvPr>
          <p:cNvSpPr txBox="1">
            <a:spLocks/>
          </p:cNvSpPr>
          <p:nvPr/>
        </p:nvSpPr>
        <p:spPr>
          <a:xfrm>
            <a:off x="858457" y="1829843"/>
            <a:ext cx="3845890" cy="576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Exercise   I2C 1.3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637CEC4-C9DB-4E12-B436-3A1B9EC0BEFB}"/>
              </a:ext>
            </a:extLst>
          </p:cNvPr>
          <p:cNvSpPr txBox="1">
            <a:spLocks/>
          </p:cNvSpPr>
          <p:nvPr/>
        </p:nvSpPr>
        <p:spPr>
          <a:xfrm>
            <a:off x="355929" y="2498711"/>
            <a:ext cx="4659691" cy="10506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573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Wingdings" panose="05000000000000000000" pitchFamily="2" charset="2"/>
              <a:buChar char="§"/>
              <a:defRPr/>
            </a:pPr>
            <a:r>
              <a:rPr lang="en-GB" dirty="0">
                <a:solidFill>
                  <a:sysClr val="windowText" lastClr="000000"/>
                </a:solidFill>
              </a:rPr>
              <a:t>Add press button to your board</a:t>
            </a:r>
          </a:p>
          <a:p>
            <a:pPr lvl="0">
              <a:buFont typeface="Wingdings" panose="05000000000000000000" pitchFamily="2" charset="2"/>
              <a:buChar char="§"/>
              <a:defRPr/>
            </a:pPr>
            <a:r>
              <a:rPr lang="en-GB" dirty="0">
                <a:solidFill>
                  <a:sysClr val="windowText" lastClr="000000"/>
                </a:solidFill>
              </a:rPr>
              <a:t>Use press button to define the North direction calibration.</a:t>
            </a: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A6FEC4-AEC2-44EE-B956-432839F3F367}"/>
              </a:ext>
            </a:extLst>
          </p:cNvPr>
          <p:cNvSpPr/>
          <p:nvPr/>
        </p:nvSpPr>
        <p:spPr>
          <a:xfrm>
            <a:off x="3675707" y="4146487"/>
            <a:ext cx="3069125" cy="14666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0DB6A2-A121-42B1-A062-168715111C50}"/>
              </a:ext>
            </a:extLst>
          </p:cNvPr>
          <p:cNvCxnSpPr/>
          <p:nvPr/>
        </p:nvCxnSpPr>
        <p:spPr>
          <a:xfrm flipV="1">
            <a:off x="3675707" y="3684760"/>
            <a:ext cx="0" cy="2218099"/>
          </a:xfrm>
          <a:prstGeom prst="straightConnector1">
            <a:avLst/>
          </a:prstGeom>
          <a:ln w="38100">
            <a:solidFill>
              <a:srgbClr val="FD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B206ECB-A5E9-45E0-84B5-CDA3187E8B8A}"/>
              </a:ext>
            </a:extLst>
          </p:cNvPr>
          <p:cNvSpPr txBox="1"/>
          <p:nvPr/>
        </p:nvSpPr>
        <p:spPr>
          <a:xfrm>
            <a:off x="3744289" y="3684760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360/0°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C28AA16-0C7E-4172-80CF-FA9D7202E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</p:spTree>
    <p:extLst>
      <p:ext uri="{BB962C8B-B14F-4D97-AF65-F5344CB8AC3E}">
        <p14:creationId xmlns:p14="http://schemas.microsoft.com/office/powerpoint/2010/main" val="3214746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6081"/>
            <a:ext cx="9785684" cy="1747673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EF15B-A130-4C8B-828D-4857926B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CCC6B-8956-48B2-B3D7-5FBAAC34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F12CB2-7F2C-47B9-AE70-22A94B49F2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E03679-07EB-4576-B7B2-CB61A5366D7F}"/>
              </a:ext>
            </a:extLst>
          </p:cNvPr>
          <p:cNvSpPr txBox="1">
            <a:spLocks/>
          </p:cNvSpPr>
          <p:nvPr/>
        </p:nvSpPr>
        <p:spPr>
          <a:xfrm>
            <a:off x="858457" y="1829843"/>
            <a:ext cx="3845890" cy="576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Exercise   I2C 2.0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637CEC4-C9DB-4E12-B436-3A1B9EC0BEFB}"/>
              </a:ext>
            </a:extLst>
          </p:cNvPr>
          <p:cNvSpPr txBox="1">
            <a:spLocks/>
          </p:cNvSpPr>
          <p:nvPr/>
        </p:nvSpPr>
        <p:spPr>
          <a:xfrm>
            <a:off x="663747" y="2634084"/>
            <a:ext cx="4659691" cy="227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573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  <a:defRPr/>
            </a:pPr>
            <a:r>
              <a:rPr lang="en-GB" dirty="0">
                <a:solidFill>
                  <a:sysClr val="windowText" lastClr="000000"/>
                </a:solidFill>
              </a:rPr>
              <a:t>Create program that turns you car to any heading </a:t>
            </a:r>
            <a:r>
              <a:rPr lang="en-US" dirty="0"/>
              <a:t>0 - 360°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/>
              <a:t>Turning heading is defined by potentiometer in your board</a:t>
            </a:r>
          </a:p>
          <a:p>
            <a:pPr lvl="0">
              <a:buFont typeface="Wingdings" panose="05000000000000000000" pitchFamily="2" charset="2"/>
              <a:buChar char="§"/>
              <a:defRPr/>
            </a:pPr>
            <a:endParaRPr lang="en-GB" dirty="0">
              <a:solidFill>
                <a:sysClr val="windowText" lastClr="000000"/>
              </a:solidFill>
            </a:endParaRPr>
          </a:p>
          <a:p>
            <a:pPr lvl="0">
              <a:buFont typeface="Wingdings" panose="05000000000000000000" pitchFamily="2" charset="2"/>
              <a:buChar char="§"/>
              <a:defRPr/>
            </a:pPr>
            <a:endParaRPr lang="en-GB" dirty="0">
              <a:solidFill>
                <a:sysClr val="windowText" lastClr="000000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5FA7023-6CCD-426A-A0BD-6A85DDECC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</p:spTree>
    <p:extLst>
      <p:ext uri="{BB962C8B-B14F-4D97-AF65-F5344CB8AC3E}">
        <p14:creationId xmlns:p14="http://schemas.microsoft.com/office/powerpoint/2010/main" val="1603752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6081"/>
            <a:ext cx="9785684" cy="1747673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EF15B-A130-4C8B-828D-4857926B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CCC6B-8956-48B2-B3D7-5FBAAC34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F12CB2-7F2C-47B9-AE70-22A94B49F2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E03679-07EB-4576-B7B2-CB61A5366D7F}"/>
              </a:ext>
            </a:extLst>
          </p:cNvPr>
          <p:cNvSpPr txBox="1">
            <a:spLocks/>
          </p:cNvSpPr>
          <p:nvPr/>
        </p:nvSpPr>
        <p:spPr>
          <a:xfrm>
            <a:off x="858457" y="1829843"/>
            <a:ext cx="3845890" cy="576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Exercise   I2C 2.5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637CEC4-C9DB-4E12-B436-3A1B9EC0BEFB}"/>
              </a:ext>
            </a:extLst>
          </p:cNvPr>
          <p:cNvSpPr txBox="1">
            <a:spLocks/>
          </p:cNvSpPr>
          <p:nvPr/>
        </p:nvSpPr>
        <p:spPr>
          <a:xfrm>
            <a:off x="663747" y="2634084"/>
            <a:ext cx="4659691" cy="22728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573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  <a:defRPr/>
            </a:pPr>
            <a:r>
              <a:rPr lang="en-GB" dirty="0">
                <a:solidFill>
                  <a:sysClr val="windowText" lastClr="000000"/>
                </a:solidFill>
              </a:rPr>
              <a:t>Create program that turns you car to any heading </a:t>
            </a:r>
            <a:r>
              <a:rPr lang="en-US" dirty="0"/>
              <a:t>0 - 360°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/>
              <a:t>Turning heading is defined by potentiometer in your board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/>
              <a:t>With joystick you can move (forward and return) car to direction defined by potentiometer </a:t>
            </a:r>
          </a:p>
          <a:p>
            <a:pPr lvl="0">
              <a:buFont typeface="Wingdings" panose="05000000000000000000" pitchFamily="2" charset="2"/>
              <a:buChar char="§"/>
              <a:defRPr/>
            </a:pPr>
            <a:endParaRPr lang="en-GB" dirty="0">
              <a:solidFill>
                <a:sysClr val="windowText" lastClr="000000"/>
              </a:solidFill>
            </a:endParaRPr>
          </a:p>
          <a:p>
            <a:pPr lvl="0">
              <a:buFont typeface="Wingdings" panose="05000000000000000000" pitchFamily="2" charset="2"/>
              <a:buChar char="§"/>
              <a:defRPr/>
            </a:pPr>
            <a:endParaRPr lang="en-GB" dirty="0">
              <a:solidFill>
                <a:sysClr val="windowText" lastClr="000000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5FA7023-6CCD-426A-A0BD-6A85DDECC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</p:spTree>
    <p:extLst>
      <p:ext uri="{BB962C8B-B14F-4D97-AF65-F5344CB8AC3E}">
        <p14:creationId xmlns:p14="http://schemas.microsoft.com/office/powerpoint/2010/main" val="2176893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6081"/>
            <a:ext cx="9785684" cy="1747673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EF15B-A130-4C8B-828D-4857926B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CCC6B-8956-48B2-B3D7-5FBAAC34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F12CB2-7F2C-47B9-AE70-22A94B49F2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E03679-07EB-4576-B7B2-CB61A5366D7F}"/>
              </a:ext>
            </a:extLst>
          </p:cNvPr>
          <p:cNvSpPr txBox="1">
            <a:spLocks/>
          </p:cNvSpPr>
          <p:nvPr/>
        </p:nvSpPr>
        <p:spPr>
          <a:xfrm>
            <a:off x="858457" y="1829843"/>
            <a:ext cx="3845890" cy="576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Exercise   I2C 3.0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637CEC4-C9DB-4E12-B436-3A1B9EC0BEFB}"/>
              </a:ext>
            </a:extLst>
          </p:cNvPr>
          <p:cNvSpPr txBox="1">
            <a:spLocks/>
          </p:cNvSpPr>
          <p:nvPr/>
        </p:nvSpPr>
        <p:spPr>
          <a:xfrm>
            <a:off x="663747" y="2634084"/>
            <a:ext cx="4659691" cy="227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573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  <a:defRPr/>
            </a:pPr>
            <a:r>
              <a:rPr lang="en-GB" dirty="0">
                <a:solidFill>
                  <a:sysClr val="windowText" lastClr="000000"/>
                </a:solidFill>
              </a:rPr>
              <a:t>Create program that runs your car according route on right (red arrow)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GB" dirty="0">
                <a:solidFill>
                  <a:sysClr val="windowText" lastClr="000000"/>
                </a:solidFill>
              </a:rPr>
              <a:t>Car initiate direction is shown in brown arrow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endParaRPr lang="en-GB" dirty="0">
              <a:solidFill>
                <a:sysClr val="windowText" lastClr="000000"/>
              </a:solidFill>
            </a:endParaRPr>
          </a:p>
          <a:p>
            <a:pPr marL="0" indent="0">
              <a:buNone/>
              <a:defRPr/>
            </a:pPr>
            <a:endParaRPr lang="en-US" dirty="0"/>
          </a:p>
          <a:p>
            <a:pPr lvl="0">
              <a:buFont typeface="Wingdings" panose="05000000000000000000" pitchFamily="2" charset="2"/>
              <a:buChar char="§"/>
              <a:defRPr/>
            </a:pPr>
            <a:endParaRPr lang="en-GB" dirty="0">
              <a:solidFill>
                <a:sysClr val="windowText" lastClr="000000"/>
              </a:solidFill>
            </a:endParaRPr>
          </a:p>
          <a:p>
            <a:pPr lvl="0">
              <a:buFont typeface="Wingdings" panose="05000000000000000000" pitchFamily="2" charset="2"/>
              <a:buChar char="§"/>
              <a:defRPr/>
            </a:pPr>
            <a:endParaRPr lang="en-GB" dirty="0">
              <a:solidFill>
                <a:sysClr val="windowText" lastClr="000000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D74C8-8340-437A-A3B6-89B55F2ADD3A}"/>
              </a:ext>
            </a:extLst>
          </p:cNvPr>
          <p:cNvSpPr/>
          <p:nvPr/>
        </p:nvSpPr>
        <p:spPr>
          <a:xfrm>
            <a:off x="5497891" y="1987641"/>
            <a:ext cx="3956389" cy="20588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Your table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E3DBFF-FF56-452C-AAE3-BDF2C5F5BCF3}"/>
              </a:ext>
            </a:extLst>
          </p:cNvPr>
          <p:cNvCxnSpPr>
            <a:cxnSpLocks/>
          </p:cNvCxnSpPr>
          <p:nvPr/>
        </p:nvCxnSpPr>
        <p:spPr>
          <a:xfrm flipH="1" flipV="1">
            <a:off x="7116024" y="2770515"/>
            <a:ext cx="144855" cy="51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4822CF-0F4A-4442-BF69-CD571B8EC77F}"/>
              </a:ext>
            </a:extLst>
          </p:cNvPr>
          <p:cNvCxnSpPr/>
          <p:nvPr/>
        </p:nvCxnSpPr>
        <p:spPr>
          <a:xfrm flipV="1">
            <a:off x="6509442" y="2650423"/>
            <a:ext cx="0" cy="733331"/>
          </a:xfrm>
          <a:prstGeom prst="straightConnector1">
            <a:avLst/>
          </a:prstGeom>
          <a:ln w="57150">
            <a:solidFill>
              <a:srgbClr val="FD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F0E42DE-2DA0-40FE-AB60-2487755BC015}"/>
              </a:ext>
            </a:extLst>
          </p:cNvPr>
          <p:cNvSpPr txBox="1"/>
          <p:nvPr/>
        </p:nvSpPr>
        <p:spPr>
          <a:xfrm>
            <a:off x="5796467" y="2877737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20cm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9BBF08-B0D3-4ED5-A3AD-D008CF009F54}"/>
              </a:ext>
            </a:extLst>
          </p:cNvPr>
          <p:cNvCxnSpPr/>
          <p:nvPr/>
        </p:nvCxnSpPr>
        <p:spPr>
          <a:xfrm flipV="1">
            <a:off x="6481361" y="3172494"/>
            <a:ext cx="364958" cy="23539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A4F3A332-C121-434D-8EB3-47339619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293C918-0EE9-4A1E-A359-6150A4A837A2}"/>
              </a:ext>
            </a:extLst>
          </p:cNvPr>
          <p:cNvSpPr/>
          <p:nvPr/>
        </p:nvSpPr>
        <p:spPr>
          <a:xfrm>
            <a:off x="6398510" y="3269153"/>
            <a:ext cx="213828" cy="190123"/>
          </a:xfrm>
          <a:prstGeom prst="ellipse">
            <a:avLst/>
          </a:prstGeom>
          <a:solidFill>
            <a:srgbClr val="FD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87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6081"/>
            <a:ext cx="9785684" cy="1747673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EF15B-A130-4C8B-828D-4857926B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Tampere University of Applied Sciences /Degree Programme in ICT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CCC6B-8956-48B2-B3D7-5FBAAC34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F12CB2-7F2C-47B9-AE70-22A94B49F2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E03679-07EB-4576-B7B2-CB61A5366D7F}"/>
              </a:ext>
            </a:extLst>
          </p:cNvPr>
          <p:cNvSpPr txBox="1">
            <a:spLocks/>
          </p:cNvSpPr>
          <p:nvPr/>
        </p:nvSpPr>
        <p:spPr>
          <a:xfrm>
            <a:off x="858457" y="1829843"/>
            <a:ext cx="3845890" cy="576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rgbClr val="4B3E1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B3E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Exercise   I2C 3.1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4B3E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637CEC4-C9DB-4E12-B436-3A1B9EC0BEFB}"/>
              </a:ext>
            </a:extLst>
          </p:cNvPr>
          <p:cNvSpPr txBox="1">
            <a:spLocks/>
          </p:cNvSpPr>
          <p:nvPr/>
        </p:nvSpPr>
        <p:spPr>
          <a:xfrm>
            <a:off x="663747" y="2634084"/>
            <a:ext cx="4659691" cy="227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573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  <a:defRPr/>
            </a:pPr>
            <a:r>
              <a:rPr lang="en-GB" dirty="0">
                <a:solidFill>
                  <a:sysClr val="windowText" lastClr="000000"/>
                </a:solidFill>
              </a:rPr>
              <a:t>Create program that runs your </a:t>
            </a:r>
            <a:r>
              <a:rPr lang="en-GB">
                <a:solidFill>
                  <a:sysClr val="windowText" lastClr="000000"/>
                </a:solidFill>
              </a:rPr>
              <a:t>car automatically </a:t>
            </a:r>
            <a:r>
              <a:rPr lang="en-GB" dirty="0">
                <a:solidFill>
                  <a:sysClr val="windowText" lastClr="000000"/>
                </a:solidFill>
              </a:rPr>
              <a:t>according route on right</a:t>
            </a:r>
          </a:p>
          <a:p>
            <a:pPr marL="0" indent="0">
              <a:buNone/>
              <a:defRPr/>
            </a:pPr>
            <a:endParaRPr lang="en-US" dirty="0"/>
          </a:p>
          <a:p>
            <a:pPr lvl="0">
              <a:buFont typeface="Wingdings" panose="05000000000000000000" pitchFamily="2" charset="2"/>
              <a:buChar char="§"/>
              <a:defRPr/>
            </a:pPr>
            <a:endParaRPr lang="en-GB" dirty="0">
              <a:solidFill>
                <a:sysClr val="windowText" lastClr="000000"/>
              </a:solidFill>
            </a:endParaRPr>
          </a:p>
          <a:p>
            <a:pPr lvl="0">
              <a:buFont typeface="Wingdings" panose="05000000000000000000" pitchFamily="2" charset="2"/>
              <a:buChar char="§"/>
              <a:defRPr/>
            </a:pPr>
            <a:endParaRPr lang="en-GB" dirty="0">
              <a:solidFill>
                <a:sysClr val="windowText" lastClr="000000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D74C8-8340-437A-A3B6-89B55F2ADD3A}"/>
              </a:ext>
            </a:extLst>
          </p:cNvPr>
          <p:cNvSpPr/>
          <p:nvPr/>
        </p:nvSpPr>
        <p:spPr>
          <a:xfrm>
            <a:off x="5497891" y="1987641"/>
            <a:ext cx="3956389" cy="20588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Your table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E3DBFF-FF56-452C-AAE3-BDF2C5F5BCF3}"/>
              </a:ext>
            </a:extLst>
          </p:cNvPr>
          <p:cNvCxnSpPr>
            <a:cxnSpLocks/>
          </p:cNvCxnSpPr>
          <p:nvPr/>
        </p:nvCxnSpPr>
        <p:spPr>
          <a:xfrm flipH="1" flipV="1">
            <a:off x="7116024" y="2770515"/>
            <a:ext cx="144855" cy="51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4822CF-0F4A-4442-BF69-CD571B8EC77F}"/>
              </a:ext>
            </a:extLst>
          </p:cNvPr>
          <p:cNvCxnSpPr/>
          <p:nvPr/>
        </p:nvCxnSpPr>
        <p:spPr>
          <a:xfrm flipV="1">
            <a:off x="6509442" y="2650423"/>
            <a:ext cx="0" cy="733331"/>
          </a:xfrm>
          <a:prstGeom prst="straightConnector1">
            <a:avLst/>
          </a:prstGeom>
          <a:ln w="57150">
            <a:solidFill>
              <a:srgbClr val="FD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55E09A-0C54-4475-AD62-6FE21A2C6748}"/>
              </a:ext>
            </a:extLst>
          </p:cNvPr>
          <p:cNvCxnSpPr>
            <a:cxnSpLocks/>
          </p:cNvCxnSpPr>
          <p:nvPr/>
        </p:nvCxnSpPr>
        <p:spPr>
          <a:xfrm flipV="1">
            <a:off x="6536702" y="2665528"/>
            <a:ext cx="1682993" cy="2"/>
          </a:xfrm>
          <a:prstGeom prst="straightConnector1">
            <a:avLst/>
          </a:prstGeom>
          <a:ln w="57150">
            <a:solidFill>
              <a:srgbClr val="FD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BCD4BE0-19E0-4B92-925C-8648B8C7B02D}"/>
              </a:ext>
            </a:extLst>
          </p:cNvPr>
          <p:cNvCxnSpPr>
            <a:cxnSpLocks/>
          </p:cNvCxnSpPr>
          <p:nvPr/>
        </p:nvCxnSpPr>
        <p:spPr>
          <a:xfrm flipH="1">
            <a:off x="8237345" y="2665528"/>
            <a:ext cx="11119" cy="718226"/>
          </a:xfrm>
          <a:prstGeom prst="straightConnector1">
            <a:avLst/>
          </a:prstGeom>
          <a:ln w="57150">
            <a:solidFill>
              <a:srgbClr val="FD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F96774-6C96-4A90-9824-7AC94B51ADDB}"/>
              </a:ext>
            </a:extLst>
          </p:cNvPr>
          <p:cNvCxnSpPr>
            <a:cxnSpLocks/>
          </p:cNvCxnSpPr>
          <p:nvPr/>
        </p:nvCxnSpPr>
        <p:spPr>
          <a:xfrm flipH="1">
            <a:off x="6771992" y="3383754"/>
            <a:ext cx="1465356" cy="0"/>
          </a:xfrm>
          <a:prstGeom prst="straightConnector1">
            <a:avLst/>
          </a:prstGeom>
          <a:ln w="57150">
            <a:solidFill>
              <a:srgbClr val="FD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F0E42DE-2DA0-40FE-AB60-2487755BC015}"/>
              </a:ext>
            </a:extLst>
          </p:cNvPr>
          <p:cNvSpPr txBox="1"/>
          <p:nvPr/>
        </p:nvSpPr>
        <p:spPr>
          <a:xfrm>
            <a:off x="5796467" y="2877737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20cm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346C45-0825-4DF6-A6A6-87FC0C505B19}"/>
              </a:ext>
            </a:extLst>
          </p:cNvPr>
          <p:cNvSpPr txBox="1"/>
          <p:nvPr/>
        </p:nvSpPr>
        <p:spPr>
          <a:xfrm>
            <a:off x="7006146" y="2316366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40cm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4429BF-48CF-4D01-8004-F5E5C44F0B1D}"/>
              </a:ext>
            </a:extLst>
          </p:cNvPr>
          <p:cNvSpPr txBox="1"/>
          <p:nvPr/>
        </p:nvSpPr>
        <p:spPr>
          <a:xfrm>
            <a:off x="8307512" y="2807654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20cm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B9DAE4-E9BE-4446-A826-402D773F73BB}"/>
              </a:ext>
            </a:extLst>
          </p:cNvPr>
          <p:cNvSpPr txBox="1"/>
          <p:nvPr/>
        </p:nvSpPr>
        <p:spPr>
          <a:xfrm>
            <a:off x="7116024" y="3408671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39cm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7964073-A591-4B78-810D-5DABE25A0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00819"/>
            <a:ext cx="10515600" cy="1325563"/>
          </a:xfrm>
        </p:spPr>
        <p:txBody>
          <a:bodyPr/>
          <a:lstStyle/>
          <a:p>
            <a:r>
              <a:rPr lang="en-US" dirty="0"/>
              <a:t>I2C bus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FF45CBA-0D02-4E0E-AFDF-81FC13270F39}"/>
              </a:ext>
            </a:extLst>
          </p:cNvPr>
          <p:cNvSpPr/>
          <p:nvPr/>
        </p:nvSpPr>
        <p:spPr>
          <a:xfrm>
            <a:off x="6398510" y="3269153"/>
            <a:ext cx="213828" cy="190123"/>
          </a:xfrm>
          <a:prstGeom prst="ellipse">
            <a:avLst/>
          </a:prstGeom>
          <a:solidFill>
            <a:srgbClr val="FD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37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-Bowl-PowePoint-Template" id="{4B85BAAD-0C6C-F540-B978-6556A450101F}" vid="{19AB0D37-A829-6C40-A18C-06351D5B49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Next-Gen-PowePoint-Template</Template>
  <TotalTime>0</TotalTime>
  <Words>927</Words>
  <Application>Microsoft Office PowerPoint</Application>
  <PresentationFormat>Widescreen</PresentationFormat>
  <Paragraphs>203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Trebuchet MS</vt:lpstr>
      <vt:lpstr>Wingdings</vt:lpstr>
      <vt:lpstr>Office Theme</vt:lpstr>
      <vt:lpstr>Embedded  projects 1.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  <vt:lpstr>I2C bus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Kari Naakka (TAMK)</dc:creator>
  <cp:lastModifiedBy>Esa Kunnari (TAMK)</cp:lastModifiedBy>
  <cp:revision>62</cp:revision>
  <dcterms:created xsi:type="dcterms:W3CDTF">2019-08-15T06:02:24Z</dcterms:created>
  <dcterms:modified xsi:type="dcterms:W3CDTF">2024-10-21T05:10:11Z</dcterms:modified>
</cp:coreProperties>
</file>